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45.png"/><Relationship Id="rId13" Type="http://schemas.openxmlformats.org/officeDocument/2006/relationships/image" Target="../media/image5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39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45.png"/><Relationship Id="rId9" Type="http://schemas.openxmlformats.org/officeDocument/2006/relationships/image" Target="../media/image6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55.png"/><Relationship Id="rId8" Type="http://schemas.openxmlformats.org/officeDocument/2006/relationships/image" Target="../media/image54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274A">
                  <a:alpha val="85000"/>
                </a:srgbClr>
              </a:gs>
              <a:gs pos="100000">
                <a:srgbClr val="12274A">
                  <a:alpha val="85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362075"/>
            <a:ext cx="6457788" cy="2057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560"/>
              </a:spcAft>
            </a:pPr>
            <a:r>
              <a:rPr sz="3588" b="1">
                <a:solidFill>
                  <a:srgbClr val="FFFFFF"/>
                </a:solidFill>
              </a:rPr>
              <a:t>Data Flow Architecture:</a:t>
            </a:r>
            <a:r>
              <a:rPr sz="1104"/>
              <a:t>
</a:t>
            </a:r>
            <a:r>
              <a:rPr sz="3588" b="1">
                <a:solidFill>
                  <a:srgbClr val="FFFFFF"/>
                </a:solidFill>
              </a:rPr>
              <a:t>End-to-End System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3648074"/>
            <a:ext cx="6457788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0"/>
              </a:spcAft>
            </a:pPr>
            <a:r>
              <a:rPr sz="1196" b="0">
                <a:solidFill>
                  <a:srgbClr val="A0CFFF"/>
                </a:solidFill>
              </a:rPr>
              <a:t>Meta-Learning Framework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33" y="4838699"/>
            <a:ext cx="64577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0E0E0"/>
                </a:solidFill>
              </a:rPr>
              <a:t>Analysis Method: </a:t>
            </a:r>
            <a:r>
              <a:rPr sz="1076" b="1">
                <a:solidFill>
                  <a:srgbClr val="64B5F6"/>
                </a:solidFill>
              </a:rPr>
              <a:t>System-Level Pattern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33" y="5057775"/>
            <a:ext cx="64577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0E0E0"/>
                </a:solidFill>
              </a:rPr>
              <a:t>Abstraction Level: </a:t>
            </a:r>
            <a:r>
              <a:rPr sz="1076" b="1">
                <a:solidFill>
                  <a:srgbClr val="64B5F6"/>
                </a:solidFill>
              </a:rPr>
              <a:t>2/5</a:t>
            </a:r>
            <a:r>
              <a:rPr sz="1076" b="0">
                <a:solidFill>
                  <a:srgbClr val="E0E0E0"/>
                </a:solidFill>
              </a:rPr>
              <a:t> (Architecture &amp; Implementation)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33" y="5276850"/>
            <a:ext cx="645778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0E0E0"/>
                </a:solidFill>
              </a:rPr>
              <a:t>Domain: </a:t>
            </a:r>
            <a:r>
              <a:rPr sz="1076" b="1">
                <a:solidFill>
                  <a:srgbClr val="64B5F6"/>
                </a:solidFill>
              </a:rPr>
              <a:t>Software Engineering / Systems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5512" y="2266950"/>
            <a:ext cx="1933526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7908" y="2419349"/>
            <a:ext cx="162873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A0CFFF"/>
                </a:solidFill>
              </a:rPr>
              <a:t>System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7908" y="2667000"/>
            <a:ext cx="16287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91435" y="2266950"/>
            <a:ext cx="1933526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43831" y="2419349"/>
            <a:ext cx="162873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A0CFFF"/>
                </a:solidFill>
              </a:rPr>
              <a:t>Implementation Maturity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43831" y="2667000"/>
            <a:ext cx="162873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PRODUCTION-READY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5512" y="3505199"/>
            <a:ext cx="1933526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7908" y="3657600"/>
            <a:ext cx="162873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A0CFFF"/>
                </a:solidFill>
              </a:rPr>
              <a:t>Modularity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7908" y="3905249"/>
            <a:ext cx="16287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EXCELLENT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91435" y="3505199"/>
            <a:ext cx="1933526" cy="1085850"/>
          </a:xfrm>
          <a:prstGeom prst="roundRect">
            <a:avLst>
              <a:gd name="adj" fmla="val 14035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43831" y="3657600"/>
            <a:ext cx="162873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A0CFFF"/>
                </a:solidFill>
              </a:rPr>
              <a:t>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3831" y="3905249"/>
            <a:ext cx="162873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REAL-TIME CAPABLE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285750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System Overview: The Complete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047749"/>
            <a:ext cx="7619809" cy="720090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7228" y="3152775"/>
            <a:ext cx="7238819" cy="2990849"/>
          </a:xfrm>
          <a:prstGeom prst="roundRect">
            <a:avLst>
              <a:gd name="adj" fmla="val 3821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7228" y="3152775"/>
            <a:ext cx="7238819" cy="2990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1A3A5F"/>
                </a:solidFill>
              </a:rPr>
              <a:t>┌─────────────┐    ┌──────────────┐    ┌──────────────┐    ┌─────────────┐ │   Sensors   │───&gt;│ Preprocessing│───&gt;│   Manifold   │───&gt;│ Four Cores  │ │             │    │              │    │ Construction │    │             │ │ pH, Temp,   │    │ Filtering,   │    │              │    │ π, φ, Ω, β  │ │ Other...    │    │ Normalization│    │ Graph Build  │    │             │ └─────────────┘    └──────────────┘    └──────────────┘    └─────────────┘ │ ▼ ┌─────────────┐    ┌──────────────┐    ┌──────────────┐    ┌─────────────┐ │   Actions   │&lt;───│   Decisions  │&lt;───│   Detection  │&lt;───│  Anomaly    │ │             │    │              │    │              │    │  Scoring    │ │ Alert, Log, │    │ Threshold    │    │ Multi-scale  │    │             │ │ Intervention│    │ Classification│    │ Analysis     │    │ Fusion      │ └─────────────┘    └──────────────┘    └──────────────┘    └─────────────┘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77038" y="1047749"/>
            <a:ext cx="3047923" cy="876299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29434" y="12001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9434" y="120015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0424" y="1219200"/>
            <a:ext cx="94295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Sensor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0424" y="1543050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46E7A"/>
                </a:solidFill>
              </a:rPr>
              <a:t>Raw time-series data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10424" y="1576667"/>
            <a:ext cx="190495" cy="1232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477038" y="2076449"/>
            <a:ext cx="3047923" cy="876299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29434" y="22288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9434" y="222885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0424" y="2247899"/>
            <a:ext cx="103819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0424" y="2571750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46E7A"/>
                </a:solidFill>
              </a:rPr>
              <a:t>Cleaning, filtering, normalization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10424" y="2596963"/>
            <a:ext cx="190495" cy="140073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477038" y="3105149"/>
            <a:ext cx="3047923" cy="876299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29434" y="32575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9434" y="325755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0424" y="3276599"/>
            <a:ext cx="16382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Manifold 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10424" y="3600450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46E7A"/>
                </a:solidFill>
              </a:rPr>
              <a:t>Graph build from sensor states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10424" y="3614457"/>
            <a:ext cx="190495" cy="162485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477038" y="4133849"/>
            <a:ext cx="3047923" cy="876299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29434" y="42862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29434" y="428625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0424" y="4305300"/>
            <a:ext cx="91437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Core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0424" y="4629150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46E7A"/>
                </a:solidFill>
              </a:rPr>
              <a:t>Compute </a:t>
            </a:r>
            <a:r>
              <a:rPr sz="837" b="1">
                <a:solidFill>
                  <a:srgbClr val="1976D2"/>
                </a:solidFill>
              </a:rPr>
              <a:t>π, φ, Ω, β</a:t>
            </a:r>
            <a:r>
              <a:rPr sz="837" b="0">
                <a:solidFill>
                  <a:srgbClr val="546E7A"/>
                </a:solidFill>
              </a:rPr>
              <a:t>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10424" y="4648760"/>
            <a:ext cx="190495" cy="15127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477038" y="5162550"/>
            <a:ext cx="3047923" cy="876299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29434" y="53149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9434" y="531495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0424" y="5334000"/>
            <a:ext cx="140013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Anomaly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0424" y="5657850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46E7A"/>
                </a:solidFill>
              </a:rPr>
              <a:t>Compare against baselines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10424" y="5671857"/>
            <a:ext cx="190495" cy="162485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477038" y="6191250"/>
            <a:ext cx="3047923" cy="876299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29434" y="63436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9434" y="634365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10424" y="6362700"/>
            <a:ext cx="105724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Decision Logic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10424" y="6686550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46E7A"/>
                </a:solidFill>
              </a:rPr>
              <a:t>Classify and respond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10424" y="6711763"/>
            <a:ext cx="190495" cy="140073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8477038" y="7219950"/>
            <a:ext cx="3047923" cy="876299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629434" y="7372350"/>
            <a:ext cx="266693" cy="266699"/>
          </a:xfrm>
          <a:prstGeom prst="roundRect">
            <a:avLst>
              <a:gd name="adj" fmla="val 50000"/>
            </a:avLst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29434" y="7372350"/>
            <a:ext cx="2666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10424" y="7391399"/>
            <a:ext cx="122869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A3A5F"/>
                </a:solidFill>
              </a:rPr>
              <a:t>Action Execution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0424" y="7715250"/>
            <a:ext cx="23621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 </a:t>
            </a:r>
            <a:r>
              <a:rPr sz="1104"/>
              <a:t>  </a:t>
            </a:r>
            <a:r>
              <a:rPr sz="837" b="0">
                <a:solidFill>
                  <a:srgbClr val="546E7A"/>
                </a:solidFill>
              </a:rPr>
              <a:t>Alerts, logging, interventions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010424" y="7748867"/>
            <a:ext cx="190495" cy="123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47749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285750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FFFFFF"/>
                </a:solidFill>
              </a:rPr>
              <a:t>Architecture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333500"/>
            <a:ext cx="3467013" cy="27432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27" y="15621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719262"/>
            <a:ext cx="228594" cy="1428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4912" y="1657350"/>
            <a:ext cx="9810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A3A5F"/>
                </a:solidFill>
              </a:rPr>
              <a:t>Modularity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27" y="2171700"/>
            <a:ext cx="3009824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956" b="0">
                <a:solidFill>
                  <a:srgbClr val="546E7A"/>
                </a:solidFill>
              </a:rPr>
              <a:t>Each stage independent with well-defined interfaces. Components can be developed, tested, and deployed separately.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5327" y="2895600"/>
            <a:ext cx="3009824" cy="952499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9624" y="3009900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7468" y="3009900"/>
            <a:ext cx="5333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7 Stages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24" y="3276599"/>
            <a:ext cx="7905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Interface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4101" y="3276599"/>
            <a:ext cx="8667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Standardized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24" y="3543300"/>
            <a:ext cx="5048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Coupling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9864" y="3543300"/>
            <a:ext cx="3809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Loose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2340" y="1333500"/>
            <a:ext cx="3467013" cy="27432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0935" y="15621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705232" y="1709261"/>
            <a:ext cx="228594" cy="1628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00519" y="1657350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A3A5F"/>
                </a:solidFill>
              </a:rPr>
              <a:t>Real-time Capability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935" y="2171700"/>
            <a:ext cx="3009824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956" b="0">
                <a:solidFill>
                  <a:srgbClr val="546E7A"/>
                </a:solidFill>
              </a:rPr>
              <a:t>Optimized for real-time processing with sub-30ms latency. Parallel computation of independent cores.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0935" y="2895600"/>
            <a:ext cx="3009824" cy="952499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5232" y="3009900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9274" y="3009900"/>
            <a:ext cx="4571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&lt; 30ms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5232" y="3276599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Sampling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303" y="3276599"/>
            <a:ext cx="638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10-100 Hz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5232" y="3543300"/>
            <a:ext cx="8477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Response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1630" y="3543300"/>
            <a:ext cx="7048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Immediate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7948" y="1333500"/>
            <a:ext cx="3467013" cy="27432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86542" y="15621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00839" y="1727835"/>
            <a:ext cx="228594" cy="12572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896127" y="1657350"/>
            <a:ext cx="9429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A3A5F"/>
                </a:solidFill>
              </a:rPr>
              <a:t>Scalability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6542" y="2171700"/>
            <a:ext cx="3009824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956" b="0">
                <a:solidFill>
                  <a:srgbClr val="546E7A"/>
                </a:solidFill>
              </a:rPr>
              <a:t>Linear scaling with sensors. Configurable manifold size. Graceful degradation under load.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86542" y="2895600"/>
            <a:ext cx="3009824" cy="952499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0839" y="3009900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Sensor Scaling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48703" y="3009900"/>
            <a:ext cx="3333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O(m)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0839" y="3276599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Manifold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01039" y="3276599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≤ 256 nodes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0839" y="3543300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Memory Growth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72505" y="3543300"/>
            <a:ext cx="4095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Linear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733" y="4305300"/>
            <a:ext cx="3467013" cy="27432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5327" y="45339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9624" y="4653915"/>
            <a:ext cx="228594" cy="21717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504912" y="4629150"/>
            <a:ext cx="1038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A3A5F"/>
                </a:solidFill>
              </a:rPr>
              <a:t>Robustness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327" y="5143500"/>
            <a:ext cx="3009824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956" b="0">
                <a:solidFill>
                  <a:srgbClr val="546E7A"/>
                </a:solidFill>
              </a:rPr>
              <a:t>Comprehensive error handling. Graceful degradation. Fallback mechanisms for critical failures.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5327" y="5867399"/>
            <a:ext cx="3009824" cy="952499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624" y="5981699"/>
            <a:ext cx="81912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Error Recovery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14597" y="5981699"/>
            <a:ext cx="6762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Automatic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9624" y="6248400"/>
            <a:ext cx="6857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Data Quality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00339" y="6248400"/>
            <a:ext cx="3905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&gt; 95%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9624" y="6515100"/>
            <a:ext cx="4667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Fail-safe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05052" y="6515100"/>
            <a:ext cx="8858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Implemented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62340" y="4305300"/>
            <a:ext cx="3467013" cy="27432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590935" y="45339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705232" y="4673917"/>
            <a:ext cx="228594" cy="17716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200519" y="4629150"/>
            <a:ext cx="116202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A3A5F"/>
                </a:solidFill>
              </a:rPr>
              <a:t>Performance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90935" y="5143500"/>
            <a:ext cx="3009824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956" b="0">
                <a:solidFill>
                  <a:srgbClr val="546E7A"/>
                </a:solidFill>
              </a:rPr>
              <a:t>Lightweight implementation optimized for edge devices. Efficient memory usage with circular buffers.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90935" y="5867399"/>
            <a:ext cx="3009824" cy="952499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05232" y="5981699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Memory Footprint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95947" y="5981699"/>
            <a:ext cx="3905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~2 MB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5232" y="6248400"/>
            <a:ext cx="6000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CPU Usage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62600" y="6248400"/>
            <a:ext cx="5238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Minimal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5232" y="6515100"/>
            <a:ext cx="6000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Bottleneck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48323" y="6515100"/>
            <a:ext cx="438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Ω Core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57948" y="4305300"/>
            <a:ext cx="3467013" cy="2743200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286542" y="4533900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400839" y="4665345"/>
            <a:ext cx="228594" cy="19430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896127" y="4629150"/>
            <a:ext cx="13429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A3A5F"/>
                </a:solidFill>
              </a:rPr>
              <a:t>Configurability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86542" y="5143500"/>
            <a:ext cx="3009824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040"/>
              </a:spcAft>
            </a:pPr>
            <a:r>
              <a:rPr sz="956" b="0">
                <a:solidFill>
                  <a:srgbClr val="546E7A"/>
                </a:solidFill>
              </a:rPr>
              <a:t>Flexible configuration system. Runtime parameter tuning. Adaptive algorithms based on data characteristics.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86542" y="5867399"/>
            <a:ext cx="3009824" cy="952499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00839" y="5981699"/>
            <a:ext cx="638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Parameters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43951" y="5981699"/>
            <a:ext cx="238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20+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00839" y="6248400"/>
            <a:ext cx="6191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Adaptation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10584" y="6248400"/>
            <a:ext cx="5714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Dynamic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00839" y="6515100"/>
            <a:ext cx="3619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46E7A"/>
                </a:solidFill>
              </a:rPr>
              <a:t>Profile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29654" y="6515100"/>
            <a:ext cx="3524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976D2"/>
                </a:solidFill>
              </a:rPr>
              <a:t>YAML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5F"/>
            </a:gs>
            <a:gs pos="100000">
              <a:srgbClr val="0D1F33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2392" b="1">
                <a:solidFill>
                  <a:srgbClr val="FFFFFF"/>
                </a:solidFill>
              </a:rPr>
              <a:t>Stage 1: Sensor Input Layer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417457"/>
            <a:ext cx="342891" cy="2128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6733" y="1047749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Data Stream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23" y="17716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651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90595" y="1955346"/>
            <a:ext cx="285742" cy="2041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8219" y="2438400"/>
            <a:ext cx="1904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pH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38299" y="17716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651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181170" y="1934935"/>
            <a:ext cx="285742" cy="244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04952" y="2438400"/>
            <a:ext cx="838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28874" y="17716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651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171745" y="1934935"/>
            <a:ext cx="285742" cy="244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152696" y="2438400"/>
            <a:ext cx="3143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102" y="17716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651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019449" y="1956804"/>
            <a:ext cx="285742" cy="2011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86102" y="2438400"/>
            <a:ext cx="5714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Pressure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7153" y="1771650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651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010024" y="1934935"/>
            <a:ext cx="285742" cy="244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33806" y="2438400"/>
            <a:ext cx="8381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Conductivity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852" y="2819399"/>
            <a:ext cx="4810004" cy="380999"/>
          </a:xfrm>
          <a:prstGeom prst="roundRect">
            <a:avLst>
              <a:gd name="adj" fmla="val 10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6733" y="3333749"/>
            <a:ext cx="5286242" cy="3238500"/>
          </a:xfrm>
          <a:prstGeom prst="roundRect">
            <a:avLst>
              <a:gd name="adj" fmla="val 7058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852" y="3571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Technical Specifications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852" y="4057650"/>
            <a:ext cx="2314517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89893" y="43726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5822" y="4200525"/>
            <a:ext cx="19906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90CAF9"/>
                </a:solidFill>
              </a:rPr>
              <a:t>Sampling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5822" y="4438649"/>
            <a:ext cx="199067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10-100 Hz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09864" y="4057650"/>
            <a:ext cx="2314517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3094905" y="43726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81310" y="4200525"/>
            <a:ext cx="19906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90CAF9"/>
                </a:solidFill>
              </a:rPr>
              <a:t>Data Quality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1310" y="4438649"/>
            <a:ext cx="199067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SNR &gt; 20 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4852" y="5010149"/>
            <a:ext cx="2314517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89893" y="53251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5822" y="5153024"/>
            <a:ext cx="19906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90CAF9"/>
                </a:solidFill>
              </a:rPr>
              <a:t>Missing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5822" y="5391150"/>
            <a:ext cx="199067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&lt; 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9864" y="5010149"/>
            <a:ext cx="2314517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3094905" y="53251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81310" y="5153024"/>
            <a:ext cx="19906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0">
                <a:solidFill>
                  <a:srgbClr val="90CAF9"/>
                </a:solidFill>
              </a:rPr>
              <a:t>Sync Jitter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1310" y="5391150"/>
            <a:ext cx="199067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&lt; 10ms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8719" y="1047749"/>
            <a:ext cx="5286242" cy="3238500"/>
          </a:xfrm>
          <a:prstGeom prst="roundRect">
            <a:avLst>
              <a:gd name="adj" fmla="val 7058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76838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48283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819729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29274" y="1285875"/>
            <a:ext cx="16382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0CAF9"/>
                </a:solidFill>
              </a:rPr>
              <a:t>sensor_data_model.py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6838" y="1647825"/>
            <a:ext cx="4810004" cy="2381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from</a:t>
            </a:r>
            <a:r>
              <a:rPr sz="837" b="0">
                <a:solidFill>
                  <a:srgbClr val="E0E0E0"/>
                </a:solidFill>
              </a:rPr>
              <a:t> dataclasses </a:t>
            </a:r>
            <a:r>
              <a:rPr sz="837" b="0">
                <a:solidFill>
                  <a:srgbClr val="C792EA"/>
                </a:solidFill>
              </a:rPr>
              <a:t>import</a:t>
            </a:r>
            <a:r>
              <a:rPr sz="837" b="0">
                <a:solidFill>
                  <a:srgbClr val="E0E0E0"/>
                </a:solidFill>
              </a:rPr>
              <a:t> dataclass </a:t>
            </a:r>
            <a:r>
              <a:rPr sz="837" b="0">
                <a:solidFill>
                  <a:srgbClr val="C792EA"/>
                </a:solidFill>
              </a:rPr>
              <a:t>from</a:t>
            </a:r>
            <a:r>
              <a:rPr sz="837" b="0">
                <a:solidFill>
                  <a:srgbClr val="E0E0E0"/>
                </a:solidFill>
              </a:rPr>
              <a:t> typing </a:t>
            </a:r>
            <a:r>
              <a:rPr sz="837" b="0">
                <a:solidFill>
                  <a:srgbClr val="C792EA"/>
                </a:solidFill>
              </a:rPr>
              <a:t>import</a:t>
            </a:r>
            <a:r>
              <a:rPr sz="837" b="0">
                <a:solidFill>
                  <a:srgbClr val="E0E0E0"/>
                </a:solidFill>
              </a:rPr>
              <a:t> List </a:t>
            </a:r>
            <a:r>
              <a:rPr sz="837" b="0">
                <a:solidFill>
                  <a:srgbClr val="C792EA"/>
                </a:solidFill>
              </a:rPr>
              <a:t>import</a:t>
            </a:r>
            <a:r>
              <a:rPr sz="837" b="0">
                <a:solidFill>
                  <a:srgbClr val="E0E0E0"/>
                </a:solidFill>
              </a:rPr>
              <a:t> numpy </a:t>
            </a:r>
            <a:r>
              <a:rPr sz="837" b="0">
                <a:solidFill>
                  <a:srgbClr val="C792EA"/>
                </a:solidFill>
              </a:rPr>
              <a:t>as</a:t>
            </a:r>
            <a:r>
              <a:rPr sz="837" b="0">
                <a:solidFill>
                  <a:srgbClr val="E0E0E0"/>
                </a:solidFill>
              </a:rPr>
              <a:t> np </a:t>
            </a:r>
            <a:r>
              <a:rPr sz="837" b="0">
                <a:solidFill>
                  <a:srgbClr val="C792EA"/>
                </a:solidFill>
              </a:rPr>
              <a:t>@dataclass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FFCB6B"/>
                </a:solidFill>
              </a:rPr>
              <a:t>SensorReading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546E7A"/>
                </a:solidFill>
              </a:rPr>
              <a:t># Single timestep, multiple sensors</a:t>
            </a:r>
            <a:r>
              <a:rPr sz="837" b="0">
                <a:solidFill>
                  <a:srgbClr val="E0E0E0"/>
                </a:solidFill>
              </a:rPr>
              <a:t> timestamp: </a:t>
            </a:r>
            <a:r>
              <a:rPr sz="837" b="0">
                <a:solidFill>
                  <a:srgbClr val="FFCB6B"/>
                </a:solidFill>
              </a:rPr>
              <a:t>float</a:t>
            </a:r>
            <a:r>
              <a:rPr sz="837" b="0">
                <a:solidFill>
                  <a:srgbClr val="E0E0E0"/>
                </a:solidFill>
              </a:rPr>
              <a:t> values: np.ndarray  </a:t>
            </a:r>
            <a:r>
              <a:rPr sz="837" b="0">
                <a:solidFill>
                  <a:srgbClr val="546E7A"/>
                </a:solidFill>
              </a:rPr>
              <a:t># Shape: (n_sensors,)</a:t>
            </a:r>
            <a:r>
              <a:rPr sz="837" b="0">
                <a:solidFill>
                  <a:srgbClr val="E0E0E0"/>
                </a:solidFill>
              </a:rPr>
              <a:t> sensor_ids: List[</a:t>
            </a:r>
            <a:r>
              <a:rPr sz="837" b="0">
                <a:solidFill>
                  <a:srgbClr val="FFCB6B"/>
                </a:solidFill>
              </a:rPr>
              <a:t>str</a:t>
            </a:r>
            <a:r>
              <a:rPr sz="837" b="0">
                <a:solidFill>
                  <a:srgbClr val="E0E0E0"/>
                </a:solidFill>
              </a:rPr>
              <a:t>] metadata: </a:t>
            </a:r>
            <a:r>
              <a:rPr sz="837" b="0">
                <a:solidFill>
                  <a:srgbClr val="FFCB6B"/>
                </a:solidFill>
              </a:rPr>
              <a:t>dict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@dataclass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FFCB6B"/>
                </a:solidFill>
              </a:rPr>
              <a:t>SensorStream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546E7A"/>
                </a:solidFill>
              </a:rPr>
              <a:t># Continuous sensor data</a:t>
            </a:r>
            <a:r>
              <a:rPr sz="837" b="0">
                <a:solidFill>
                  <a:srgbClr val="E0E0E0"/>
                </a:solidFill>
              </a:rPr>
              <a:t> readings: List[</a:t>
            </a:r>
            <a:r>
              <a:rPr sz="837" b="0">
                <a:solidFill>
                  <a:srgbClr val="FFCB6B"/>
                </a:solidFill>
              </a:rPr>
              <a:t>SensorReading</a:t>
            </a:r>
            <a:r>
              <a:rPr sz="837" b="0">
                <a:solidFill>
                  <a:srgbClr val="E0E0E0"/>
                </a:solidFill>
              </a:rPr>
              <a:t>] sampling_rate: </a:t>
            </a:r>
            <a:r>
              <a:rPr sz="837" b="0">
                <a:solidFill>
                  <a:srgbClr val="FFCB6B"/>
                </a:solidFill>
              </a:rPr>
              <a:t>float</a:t>
            </a:r>
            <a:r>
              <a:rPr sz="837" b="0">
                <a:solidFill>
                  <a:srgbClr val="E0E0E0"/>
                </a:solidFill>
              </a:rPr>
              <a:t>  </a:t>
            </a:r>
            <a:r>
              <a:rPr sz="837" b="0">
                <a:solidFill>
                  <a:srgbClr val="546E7A"/>
                </a:solidFill>
              </a:rPr>
              <a:t># Hz</a:t>
            </a:r>
            <a:r>
              <a:rPr sz="837" b="0">
                <a:solidFill>
                  <a:srgbClr val="E0E0E0"/>
                </a:solidFill>
              </a:rPr>
              <a:t> start_time: </a:t>
            </a:r>
            <a:r>
              <a:rPr sz="837" b="0">
                <a:solidFill>
                  <a:srgbClr val="FFCB6B"/>
                </a:solidFill>
              </a:rPr>
              <a:t>float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get_window</a:t>
            </a:r>
            <a:r>
              <a:rPr sz="837" b="0">
                <a:solidFill>
                  <a:srgbClr val="E0E0E0"/>
                </a:solidFill>
              </a:rPr>
              <a:t>(self, start_idx: </a:t>
            </a:r>
            <a:r>
              <a:rPr sz="837" b="0">
                <a:solidFill>
                  <a:srgbClr val="FFCB6B"/>
                </a:solidFill>
              </a:rPr>
              <a:t>int</a:t>
            </a:r>
            <a:r>
              <a:rPr sz="837" b="0">
                <a:solidFill>
                  <a:srgbClr val="E0E0E0"/>
                </a:solidFill>
              </a:rPr>
              <a:t>, window_size: </a:t>
            </a:r>
            <a:r>
              <a:rPr sz="837" b="0">
                <a:solidFill>
                  <a:srgbClr val="FFCB6B"/>
                </a:solidFill>
              </a:rPr>
              <a:t>int</a:t>
            </a:r>
            <a:r>
              <a:rPr sz="837" b="0">
                <a:solidFill>
                  <a:srgbClr val="E0E0E0"/>
                </a:solidFill>
              </a:rPr>
              <a:t>) -&gt; np.ndarray: </a:t>
            </a:r>
            <a:r>
              <a:rPr sz="837" b="0">
                <a:solidFill>
                  <a:srgbClr val="546E7A"/>
                </a:solidFill>
              </a:rPr>
              <a:t># Extract sliding window of data</a:t>
            </a:r>
            <a:r>
              <a:rPr sz="837" b="0">
                <a:solidFill>
                  <a:srgbClr val="E0E0E0"/>
                </a:solidFill>
              </a:rPr>
              <a:t> end_idx = start_idx + window_size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np.array([r.values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r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self.readings[start_idx:end_idx]]) 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8719" y="4476750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6838" y="4714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Circular Buffer Architecture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05592" y="5343525"/>
            <a:ext cx="1142971" cy="1143000"/>
          </a:xfrm>
          <a:prstGeom prst="roundRect">
            <a:avLst>
              <a:gd name="adj" fmla="val 50000"/>
            </a:avLst>
          </a:prstGeom>
          <a:solidFill>
            <a:srgbClr val="0D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9434" y="5638799"/>
            <a:ext cx="50481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</a:rPr>
              <a:t>10K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29434" y="6019800"/>
            <a:ext cx="50481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Readings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91415" y="5905500"/>
            <a:ext cx="1704932" cy="533399"/>
          </a:xfrm>
          <a:prstGeom prst="roundRect">
            <a:avLst>
              <a:gd name="adj" fmla="val 28571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91415" y="5905500"/>
            <a:ext cx="170493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 Memory Footprint: ~400 KB</a:t>
            </a:r>
            <a:r>
              <a:rPr sz="1104"/>
              <a:t>
</a:t>
            </a:r>
            <a:r>
              <a:rPr sz="837" b="0">
                <a:solidFill>
                  <a:srgbClr val="FFFFFF"/>
                </a:solidFill>
              </a:rPr>
              <a:t> O(1) Insert/Retrieve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5F"/>
            </a:gs>
            <a:gs pos="100000">
              <a:srgbClr val="0D1F33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2392" b="1">
                <a:solidFill>
                  <a:srgbClr val="FFFFFF"/>
                </a:solidFill>
              </a:rPr>
              <a:t>Stage 2: Preprocessing Pipeline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402677"/>
            <a:ext cx="342891" cy="24239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6733" y="1047749"/>
            <a:ext cx="5286242" cy="28575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Data Transformation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47743" y="186689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651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438239" y="2069306"/>
            <a:ext cx="380990" cy="3571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57308" y="2266950"/>
            <a:ext cx="666733" cy="1905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4397" y="2781300"/>
            <a:ext cx="101914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</a:rPr>
              <a:t>Data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52" y="3047999"/>
            <a:ext cx="1447763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Handle missing values, remove outliers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33626" y="186689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651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124121" y="2110978"/>
            <a:ext cx="380990" cy="273843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333666" y="2266950"/>
            <a:ext cx="666733" cy="1905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656" y="2781300"/>
            <a:ext cx="111439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</a:rPr>
              <a:t>Signal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0735" y="3047999"/>
            <a:ext cx="1447763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Bandpass filter, noise reduction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09984" y="1866899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 w="16510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800479" y="2102048"/>
            <a:ext cx="380990" cy="29170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67113" y="2781300"/>
            <a:ext cx="104772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</a:rPr>
              <a:t>Normalization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67093" y="3047999"/>
            <a:ext cx="1447763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Standardize to zero mean, unit variance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4095749"/>
            <a:ext cx="5286242" cy="1714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852" y="4333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Performance Metrics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852" y="4819650"/>
            <a:ext cx="1504912" cy="1190625"/>
          </a:xfrm>
          <a:prstGeom prst="roundRect">
            <a:avLst>
              <a:gd name="adj" fmla="val 128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4892" y="5133975"/>
            <a:ext cx="71435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1-2ms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0119" y="5524499"/>
            <a:ext cx="90485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Processing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52636" y="4819650"/>
            <a:ext cx="1504912" cy="1190625"/>
          </a:xfrm>
          <a:prstGeom prst="roundRect">
            <a:avLst>
              <a:gd name="adj" fmla="val 128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57448" y="5133975"/>
            <a:ext cx="51433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2200" y="5524499"/>
            <a:ext cx="68578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Data Quality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9944" y="4819650"/>
            <a:ext cx="1504912" cy="1190625"/>
          </a:xfrm>
          <a:prstGeom prst="roundRect">
            <a:avLst>
              <a:gd name="adj" fmla="val 128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816" y="4962525"/>
            <a:ext cx="1219169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0.001-0.1Hz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3786" y="5695949"/>
            <a:ext cx="85722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Filter Bandpass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8719" y="1047749"/>
            <a:ext cx="5286242" cy="3838574"/>
          </a:xfrm>
          <a:prstGeom prst="roundRect">
            <a:avLst>
              <a:gd name="adj" fmla="val 5955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76838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48283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19729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29274" y="1285875"/>
            <a:ext cx="114297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0CAF9"/>
                </a:solidFill>
              </a:rPr>
              <a:t>data_cleaner.py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6838" y="1647825"/>
            <a:ext cx="4810004" cy="29813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FFCB6B"/>
                </a:solidFill>
              </a:rPr>
              <a:t>DataCleaner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__init__</a:t>
            </a:r>
            <a:r>
              <a:rPr sz="837" b="0">
                <a:solidFill>
                  <a:srgbClr val="E0E0E0"/>
                </a:solidFill>
              </a:rPr>
              <a:t>(self, max_missing_pct: </a:t>
            </a:r>
            <a:r>
              <a:rPr sz="837" b="0">
                <a:solidFill>
                  <a:srgbClr val="FFCB6B"/>
                </a:solidFill>
              </a:rPr>
              <a:t>float</a:t>
            </a:r>
            <a:r>
              <a:rPr sz="837" b="0">
                <a:solidFill>
                  <a:srgbClr val="E0E0E0"/>
                </a:solidFill>
              </a:rPr>
              <a:t> = </a:t>
            </a:r>
            <a:r>
              <a:rPr sz="837" b="0">
                <a:solidFill>
                  <a:srgbClr val="F78C6C"/>
                </a:solidFill>
              </a:rPr>
              <a:t>0.05</a:t>
            </a:r>
            <a:r>
              <a:rPr sz="837" b="0">
                <a:solidFill>
                  <a:srgbClr val="E0E0E0"/>
                </a:solidFill>
              </a:rPr>
              <a:t>): self.max_missing_pct = max_missing_pct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handle_missing</a:t>
            </a:r>
            <a:r>
              <a:rPr sz="837" b="0">
                <a:solidFill>
                  <a:srgbClr val="E0E0E0"/>
                </a:solidFill>
              </a:rPr>
              <a:t>(self, data: np.ndarray) -&gt; np.ndarray: </a:t>
            </a:r>
            <a:r>
              <a:rPr sz="837" b="0">
                <a:solidFill>
                  <a:srgbClr val="546E7A"/>
                </a:solidFill>
              </a:rPr>
              <a:t># Forward fill strategy</a:t>
            </a:r>
            <a:r>
              <a:rPr sz="837" b="0">
                <a:solidFill>
                  <a:srgbClr val="E0E0E0"/>
                </a:solidFill>
              </a:rPr>
              <a:t> missing_pct = np.isnan(data).sum() / data.size </a:t>
            </a:r>
            <a:r>
              <a:rPr sz="837" b="0">
                <a:solidFill>
                  <a:srgbClr val="C792EA"/>
                </a:solidFill>
              </a:rPr>
              <a:t>if</a:t>
            </a:r>
            <a:r>
              <a:rPr sz="837" b="0">
                <a:solidFill>
                  <a:srgbClr val="E0E0E0"/>
                </a:solidFill>
              </a:rPr>
              <a:t> missing_pct &gt; self.max_missing_pct: </a:t>
            </a:r>
            <a:r>
              <a:rPr sz="837" b="0">
                <a:solidFill>
                  <a:srgbClr val="C792EA"/>
                </a:solidFill>
              </a:rPr>
              <a:t>raise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FFCB6B"/>
                </a:solidFill>
              </a:rPr>
              <a:t>ValueError</a:t>
            </a:r>
            <a:r>
              <a:rPr sz="837" b="0">
                <a:solidFill>
                  <a:srgbClr val="E0E0E0"/>
                </a:solidFill>
              </a:rPr>
              <a:t>(</a:t>
            </a:r>
            <a:r>
              <a:rPr sz="837" b="0">
                <a:solidFill>
                  <a:srgbClr val="C3E88D"/>
                </a:solidFill>
              </a:rPr>
              <a:t>f"Too many missing values"</a:t>
            </a:r>
            <a:r>
              <a:rPr sz="837" b="0">
                <a:solidFill>
                  <a:srgbClr val="E0E0E0"/>
                </a:solidFill>
              </a:rPr>
              <a:t>) mask = np.isnan(data) indices = np.where(~mask, np.arange(mask.shape[</a:t>
            </a:r>
            <a:r>
              <a:rPr sz="837" b="0">
                <a:solidFill>
                  <a:srgbClr val="F78C6C"/>
                </a:solidFill>
              </a:rPr>
              <a:t>0</a:t>
            </a:r>
            <a:r>
              <a:rPr sz="837" b="0">
                <a:solidFill>
                  <a:srgbClr val="E0E0E0"/>
                </a:solidFill>
              </a:rPr>
              <a:t>]), </a:t>
            </a:r>
            <a:r>
              <a:rPr sz="837" b="0">
                <a:solidFill>
                  <a:srgbClr val="F78C6C"/>
                </a:solidFill>
              </a:rPr>
              <a:t>0</a:t>
            </a:r>
            <a:r>
              <a:rPr sz="837" b="0">
                <a:solidFill>
                  <a:srgbClr val="E0E0E0"/>
                </a:solidFill>
              </a:rPr>
              <a:t>) np.maximum.accumulate(indices, axis=</a:t>
            </a:r>
            <a:r>
              <a:rPr sz="837" b="0">
                <a:solidFill>
                  <a:srgbClr val="F78C6C"/>
                </a:solidFill>
              </a:rPr>
              <a:t>0</a:t>
            </a:r>
            <a:r>
              <a:rPr sz="837" b="0">
                <a:solidFill>
                  <a:srgbClr val="E0E0E0"/>
                </a:solidFill>
              </a:rPr>
              <a:t>, out=indices)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data[indices]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remove_outliers</a:t>
            </a:r>
            <a:r>
              <a:rPr sz="837" b="0">
                <a:solidFill>
                  <a:srgbClr val="E0E0E0"/>
                </a:solidFill>
              </a:rPr>
              <a:t>(self, data: np.ndarray, n_sigma: </a:t>
            </a:r>
            <a:r>
              <a:rPr sz="837" b="0">
                <a:solidFill>
                  <a:srgbClr val="FFCB6B"/>
                </a:solidFill>
              </a:rPr>
              <a:t>float</a:t>
            </a:r>
            <a:r>
              <a:rPr sz="837" b="0">
                <a:solidFill>
                  <a:srgbClr val="E0E0E0"/>
                </a:solidFill>
              </a:rPr>
              <a:t> = </a:t>
            </a:r>
            <a:r>
              <a:rPr sz="837" b="0">
                <a:solidFill>
                  <a:srgbClr val="F78C6C"/>
                </a:solidFill>
              </a:rPr>
              <a:t>5.0</a:t>
            </a:r>
            <a:r>
              <a:rPr sz="837" b="0">
                <a:solidFill>
                  <a:srgbClr val="E0E0E0"/>
                </a:solidFill>
              </a:rPr>
              <a:t>): </a:t>
            </a:r>
            <a:r>
              <a:rPr sz="837" b="0">
                <a:solidFill>
                  <a:srgbClr val="546E7A"/>
                </a:solidFill>
              </a:rPr>
              <a:t># Z-score outlier detection</a:t>
            </a:r>
            <a:r>
              <a:rPr sz="837" b="0">
                <a:solidFill>
                  <a:srgbClr val="E0E0E0"/>
                </a:solidFill>
              </a:rPr>
              <a:t> mean = np.nanmean(data, axis=</a:t>
            </a:r>
            <a:r>
              <a:rPr sz="837" b="0">
                <a:solidFill>
                  <a:srgbClr val="F78C6C"/>
                </a:solidFill>
              </a:rPr>
              <a:t>0</a:t>
            </a:r>
            <a:r>
              <a:rPr sz="837" b="0">
                <a:solidFill>
                  <a:srgbClr val="E0E0E0"/>
                </a:solidFill>
              </a:rPr>
              <a:t>) std = np.nanstd(data, axis=</a:t>
            </a:r>
            <a:r>
              <a:rPr sz="837" b="0">
                <a:solidFill>
                  <a:srgbClr val="F78C6C"/>
                </a:solidFill>
              </a:rPr>
              <a:t>0</a:t>
            </a:r>
            <a:r>
              <a:rPr sz="837" b="0">
                <a:solidFill>
                  <a:srgbClr val="E0E0E0"/>
                </a:solidFill>
              </a:rPr>
              <a:t>) z_scores = np.abs((data - mean) / (std + </a:t>
            </a:r>
            <a:r>
              <a:rPr sz="837" b="0">
                <a:solidFill>
                  <a:srgbClr val="F78C6C"/>
                </a:solidFill>
              </a:rPr>
              <a:t>1e-10</a:t>
            </a:r>
            <a:r>
              <a:rPr sz="837" b="0">
                <a:solidFill>
                  <a:srgbClr val="E0E0E0"/>
                </a:solidFill>
              </a:rPr>
              <a:t>)) outliers = z_scores &gt; n_sigma data_clean = data.copy() data_clean[outliers] = np.nanmedian(data, axis=</a:t>
            </a:r>
            <a:r>
              <a:rPr sz="837" b="0">
                <a:solidFill>
                  <a:srgbClr val="F78C6C"/>
                </a:solidFill>
              </a:rPr>
              <a:t>0</a:t>
            </a:r>
            <a:r>
              <a:rPr sz="837" b="0">
                <a:solidFill>
                  <a:srgbClr val="E0E0E0"/>
                </a:solidFill>
              </a:rPr>
              <a:t>)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data_clean 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8719" y="5076825"/>
            <a:ext cx="5286242" cy="2867025"/>
          </a:xfrm>
          <a:prstGeom prst="roundRect">
            <a:avLst>
              <a:gd name="adj" fmla="val 797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6838" y="5314950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Signal Filtering Visualization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6838" y="5562600"/>
            <a:ext cx="60958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Raw Signal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76838" y="6267449"/>
            <a:ext cx="4810004" cy="1905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76838" y="6267449"/>
            <a:ext cx="4810004" cy="1905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53076" y="6229350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438839" y="6324599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924601" y="6181724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00839" y="6372225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877078" y="6200775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362840" y="6353174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848603" y="6229350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24841" y="6324599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801079" y="6257925"/>
            <a:ext cx="38099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686582" y="65627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762780" y="6670357"/>
            <a:ext cx="228594" cy="16573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476838" y="6515100"/>
            <a:ext cx="80007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CAF50"/>
                </a:solidFill>
              </a:rPr>
              <a:t>Filtered Signal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76838" y="7219950"/>
            <a:ext cx="4810004" cy="1905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5F"/>
            </a:gs>
            <a:gs pos="100000">
              <a:srgbClr val="0D1F33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2392" b="1">
                <a:solidFill>
                  <a:srgbClr val="FFFFFF"/>
                </a:solidFill>
              </a:rPr>
              <a:t>Stage 3: Manifold Construction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79029"/>
            <a:ext cx="342891" cy="28969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6733" y="1047749"/>
            <a:ext cx="5286242" cy="28575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Graph-Based Manifold Construction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09724" y="2257425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76478" y="2162174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43231" y="234315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09984" y="2257425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90655" y="262890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57408" y="272415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24161" y="262890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90915" y="272415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09724" y="3105149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76478" y="320040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43231" y="3105149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9984" y="3200400"/>
            <a:ext cx="152396" cy="152400"/>
          </a:xfrm>
          <a:prstGeom prst="roundRect">
            <a:avLst>
              <a:gd name="adj" fmla="val 50000"/>
            </a:avLst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09724" y="2171700"/>
            <a:ext cx="952476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76478" y="2162174"/>
            <a:ext cx="952476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3231" y="2266950"/>
            <a:ext cx="952476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00199" y="2257425"/>
            <a:ext cx="781030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57408" y="2638425"/>
            <a:ext cx="952476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24161" y="2628900"/>
            <a:ext cx="952476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90655" y="2628900"/>
            <a:ext cx="952476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57408" y="2724150"/>
            <a:ext cx="952476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76478" y="3114675"/>
            <a:ext cx="952476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43231" y="3105149"/>
            <a:ext cx="952476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1390" y="2724150"/>
            <a:ext cx="781030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4161" y="2628900"/>
            <a:ext cx="781030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09724" y="2066924"/>
            <a:ext cx="39051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90CAF9"/>
                </a:solidFill>
              </a:rPr>
              <a:t>State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9984" y="2066924"/>
            <a:ext cx="39051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90CAF9"/>
                </a:solidFill>
              </a:rPr>
              <a:t>State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9724" y="3476624"/>
            <a:ext cx="39051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90CAF9"/>
                </a:solidFill>
              </a:rPr>
              <a:t>State 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9984" y="3476624"/>
            <a:ext cx="45718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90CAF9"/>
                </a:solidFill>
              </a:rPr>
              <a:t>State 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6733" y="4095749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4852" y="4333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State Space Embedding Process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47743" y="4819650"/>
            <a:ext cx="761980" cy="704849"/>
          </a:xfrm>
          <a:prstGeom prst="roundRect">
            <a:avLst>
              <a:gd name="adj" fmla="val 21621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438239" y="5055989"/>
            <a:ext cx="380990" cy="23217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47743" y="5667374"/>
            <a:ext cx="7619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Time Series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4852" y="5905500"/>
            <a:ext cx="1447763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Raw sensor data sequence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33626" y="4819650"/>
            <a:ext cx="761980" cy="761999"/>
          </a:xfrm>
          <a:prstGeom prst="roundRect">
            <a:avLst>
              <a:gd name="adj" fmla="val 2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124121" y="5022056"/>
            <a:ext cx="380990" cy="35718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800279" y="5724524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Sliding Window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52656" y="5962650"/>
            <a:ext cx="111439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Extract state vectors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09984" y="4819650"/>
            <a:ext cx="761980" cy="761999"/>
          </a:xfrm>
          <a:prstGeom prst="roundRect">
            <a:avLst>
              <a:gd name="adj" fmla="val 2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800479" y="5016103"/>
            <a:ext cx="380990" cy="36909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352816" y="5724524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Graph Construction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1390" y="5962650"/>
            <a:ext cx="122869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Connect similar states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38719" y="1047749"/>
            <a:ext cx="5286242" cy="4038599"/>
          </a:xfrm>
          <a:prstGeom prst="roundRect">
            <a:avLst>
              <a:gd name="adj" fmla="val 566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476838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648283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819729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29274" y="1285875"/>
            <a:ext cx="16192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0CAF9"/>
                </a:solidFill>
              </a:rPr>
              <a:t>graph_construction.py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6838" y="1647825"/>
            <a:ext cx="4810004" cy="3181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construct_knn_graph</a:t>
            </a:r>
            <a:r>
              <a:rPr sz="837" b="0">
                <a:solidFill>
                  <a:srgbClr val="E0E0E0"/>
                </a:solidFill>
              </a:rPr>
              <a:t>(states: np.ndarray, k: </a:t>
            </a:r>
            <a:r>
              <a:rPr sz="837" b="0">
                <a:solidFill>
                  <a:srgbClr val="FFCB6B"/>
                </a:solidFill>
              </a:rPr>
              <a:t>int</a:t>
            </a:r>
            <a:r>
              <a:rPr sz="837" b="0">
                <a:solidFill>
                  <a:srgbClr val="E0E0E0"/>
                </a:solidFill>
              </a:rPr>
              <a:t> = </a:t>
            </a:r>
            <a:r>
              <a:rPr sz="837" b="0">
                <a:solidFill>
                  <a:srgbClr val="F78C6C"/>
                </a:solidFill>
              </a:rPr>
              <a:t>4</a:t>
            </a:r>
            <a:r>
              <a:rPr sz="837" b="0">
                <a:solidFill>
                  <a:srgbClr val="E0E0E0"/>
                </a:solidFill>
              </a:rPr>
              <a:t>) -&gt; nx.Graph: </a:t>
            </a:r>
            <a:r>
              <a:rPr sz="837" b="0">
                <a:solidFill>
                  <a:srgbClr val="546E7A"/>
                </a:solidFill>
              </a:rPr>
              <a:t># Build k-NN graph from state vectors</a:t>
            </a:r>
            <a:r>
              <a:rPr sz="837" b="0">
                <a:solidFill>
                  <a:srgbClr val="E0E0E0"/>
                </a:solidFill>
              </a:rPr>
              <a:t> nbrs = NearestNeighbors(n_neighbors=k+</a:t>
            </a:r>
            <a:r>
              <a:rPr sz="837" b="0">
                <a:solidFill>
                  <a:srgbClr val="F78C6C"/>
                </a:solidFill>
              </a:rPr>
              <a:t>1</a:t>
            </a:r>
            <a:r>
              <a:rPr sz="837" b="0">
                <a:solidFill>
                  <a:srgbClr val="E0E0E0"/>
                </a:solidFill>
              </a:rPr>
              <a:t>, algorithm=</a:t>
            </a:r>
            <a:r>
              <a:rPr sz="837" b="0">
                <a:solidFill>
                  <a:srgbClr val="C3E88D"/>
                </a:solidFill>
              </a:rPr>
              <a:t>'ball_tree'</a:t>
            </a:r>
            <a:r>
              <a:rPr sz="837" b="0">
                <a:solidFill>
                  <a:srgbClr val="E0E0E0"/>
                </a:solidFill>
              </a:rPr>
              <a:t>) nbrs.fit(states) distances, indices = nbrs.kneighbors(states) G = nx.Graph()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i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range</a:t>
            </a:r>
            <a:r>
              <a:rPr sz="837" b="0">
                <a:solidFill>
                  <a:srgbClr val="E0E0E0"/>
                </a:solidFill>
              </a:rPr>
              <a:t>(</a:t>
            </a:r>
            <a:r>
              <a:rPr sz="837" b="0">
                <a:solidFill>
                  <a:srgbClr val="82AAFF"/>
                </a:solidFill>
              </a:rPr>
              <a:t>len</a:t>
            </a:r>
            <a:r>
              <a:rPr sz="837" b="0">
                <a:solidFill>
                  <a:srgbClr val="E0E0E0"/>
                </a:solidFill>
              </a:rPr>
              <a:t>(states)):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j, dist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zip</a:t>
            </a:r>
            <a:r>
              <a:rPr sz="837" b="0">
                <a:solidFill>
                  <a:srgbClr val="E0E0E0"/>
                </a:solidFill>
              </a:rPr>
              <a:t>(indices[i, </a:t>
            </a:r>
            <a:r>
              <a:rPr sz="837" b="0">
                <a:solidFill>
                  <a:srgbClr val="F78C6C"/>
                </a:solidFill>
              </a:rPr>
              <a:t>1</a:t>
            </a:r>
            <a:r>
              <a:rPr sz="837" b="0">
                <a:solidFill>
                  <a:srgbClr val="E0E0E0"/>
                </a:solidFill>
              </a:rPr>
              <a:t>:], distances[i, </a:t>
            </a:r>
            <a:r>
              <a:rPr sz="837" b="0">
                <a:solidFill>
                  <a:srgbClr val="F78C6C"/>
                </a:solidFill>
              </a:rPr>
              <a:t>1</a:t>
            </a:r>
            <a:r>
              <a:rPr sz="837" b="0">
                <a:solidFill>
                  <a:srgbClr val="E0E0E0"/>
                </a:solidFill>
              </a:rPr>
              <a:t>:]): G.add_edge(i, j, weight=dist)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G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FFCB6B"/>
                </a:solidFill>
              </a:rPr>
              <a:t>IncrementalManifold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add_state</a:t>
            </a:r>
            <a:r>
              <a:rPr sz="837" b="0">
                <a:solidFill>
                  <a:srgbClr val="E0E0E0"/>
                </a:solidFill>
              </a:rPr>
              <a:t>(self, new_state: np.ndarray): </a:t>
            </a:r>
            <a:r>
              <a:rPr sz="837" b="0">
                <a:solidFill>
                  <a:srgbClr val="546E7A"/>
                </a:solidFill>
              </a:rPr>
              <a:t># Add new state to manifold</a:t>
            </a:r>
            <a:r>
              <a:rPr sz="837" b="0">
                <a:solidFill>
                  <a:srgbClr val="E0E0E0"/>
                </a:solidFill>
              </a:rPr>
              <a:t> new_id = </a:t>
            </a:r>
            <a:r>
              <a:rPr sz="837" b="0">
                <a:solidFill>
                  <a:srgbClr val="82AAFF"/>
                </a:solidFill>
              </a:rPr>
              <a:t>len</a:t>
            </a:r>
            <a:r>
              <a:rPr sz="837" b="0">
                <a:solidFill>
                  <a:srgbClr val="E0E0E0"/>
                </a:solidFill>
              </a:rPr>
              <a:t>(self.states) self.G.add_node(new_id) self.states.append(new_state) </a:t>
            </a:r>
            <a:r>
              <a:rPr sz="837" b="0">
                <a:solidFill>
                  <a:srgbClr val="C792EA"/>
                </a:solidFill>
              </a:rPr>
              <a:t>if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len</a:t>
            </a:r>
            <a:r>
              <a:rPr sz="837" b="0">
                <a:solidFill>
                  <a:srgbClr val="E0E0E0"/>
                </a:solidFill>
              </a:rPr>
              <a:t>(self.states) &gt; </a:t>
            </a:r>
            <a:r>
              <a:rPr sz="837" b="0">
                <a:solidFill>
                  <a:srgbClr val="F78C6C"/>
                </a:solidFill>
              </a:rPr>
              <a:t>1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546E7A"/>
                </a:solidFill>
              </a:rPr>
              <a:t># Connect to k nearest existing nodes</a:t>
            </a:r>
            <a:r>
              <a:rPr sz="837" b="0">
                <a:solidFill>
                  <a:srgbClr val="E0E0E0"/>
                </a:solidFill>
              </a:rPr>
              <a:t> self.nbrs.fit(np.array(self.states[:-</a:t>
            </a:r>
            <a:r>
              <a:rPr sz="837" b="0">
                <a:solidFill>
                  <a:srgbClr val="F78C6C"/>
                </a:solidFill>
              </a:rPr>
              <a:t>1</a:t>
            </a:r>
            <a:r>
              <a:rPr sz="837" b="0">
                <a:solidFill>
                  <a:srgbClr val="E0E0E0"/>
                </a:solidFill>
              </a:rPr>
              <a:t>])) distances, indices = self.nbrs.kneighbors([new_state])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idx, dist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zip</a:t>
            </a:r>
            <a:r>
              <a:rPr sz="837" b="0">
                <a:solidFill>
                  <a:srgbClr val="E0E0E0"/>
                </a:solidFill>
              </a:rPr>
              <a:t>(indices[</a:t>
            </a:r>
            <a:r>
              <a:rPr sz="837" b="0">
                <a:solidFill>
                  <a:srgbClr val="F78C6C"/>
                </a:solidFill>
              </a:rPr>
              <a:t>0</a:t>
            </a:r>
            <a:r>
              <a:rPr sz="837" b="0">
                <a:solidFill>
                  <a:srgbClr val="E0E0E0"/>
                </a:solidFill>
              </a:rPr>
              <a:t>], distances[</a:t>
            </a:r>
            <a:r>
              <a:rPr sz="837" b="0">
                <a:solidFill>
                  <a:srgbClr val="F78C6C"/>
                </a:solidFill>
              </a:rPr>
              <a:t>0</a:t>
            </a:r>
            <a:r>
              <a:rPr sz="837" b="0">
                <a:solidFill>
                  <a:srgbClr val="E0E0E0"/>
                </a:solidFill>
              </a:rPr>
              <a:t>]): </a:t>
            </a:r>
            <a:r>
              <a:rPr sz="837" b="0">
                <a:solidFill>
                  <a:srgbClr val="C792EA"/>
                </a:solidFill>
              </a:rPr>
              <a:t>if</a:t>
            </a:r>
            <a:r>
              <a:rPr sz="837" b="0">
                <a:solidFill>
                  <a:srgbClr val="E0E0E0"/>
                </a:solidFill>
              </a:rPr>
              <a:t> idx &lt; </a:t>
            </a:r>
            <a:r>
              <a:rPr sz="837" b="0">
                <a:solidFill>
                  <a:srgbClr val="82AAFF"/>
                </a:solidFill>
              </a:rPr>
              <a:t>len</a:t>
            </a:r>
            <a:r>
              <a:rPr sz="837" b="0">
                <a:solidFill>
                  <a:srgbClr val="E0E0E0"/>
                </a:solidFill>
              </a:rPr>
              <a:t>(self.states) - </a:t>
            </a:r>
            <a:r>
              <a:rPr sz="837" b="0">
                <a:solidFill>
                  <a:srgbClr val="F78C6C"/>
                </a:solidFill>
              </a:rPr>
              <a:t>1</a:t>
            </a:r>
            <a:r>
              <a:rPr sz="837" b="0">
                <a:solidFill>
                  <a:srgbClr val="E0E0E0"/>
                </a:solidFill>
              </a:rPr>
              <a:t>: self.G.add_edge(new_id, idx, weight=dist) 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38719" y="5276850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76838" y="55149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Engineering Metrics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76838" y="60007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67373" y="6143625"/>
            <a:ext cx="114297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O(n log 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72105" y="6534150"/>
            <a:ext cx="174303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Graph Construction Complexity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276" y="60007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53336" y="6143625"/>
            <a:ext cx="113344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O(k log 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10464" y="6534150"/>
            <a:ext cx="141918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Incremental Update Time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76838" y="69913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57888" y="7134225"/>
            <a:ext cx="37146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4-8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67373" y="7524749"/>
            <a:ext cx="115249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Optimal k-Neighbors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953276" y="69913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39079" y="7134225"/>
            <a:ext cx="57148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≤256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48563" y="7524749"/>
            <a:ext cx="133346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Max States for Real-time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5F"/>
            </a:gs>
            <a:gs pos="100000">
              <a:srgbClr val="0D1F33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2392" b="1">
                <a:solidFill>
                  <a:srgbClr val="FFFFFF"/>
                </a:solidFill>
              </a:rPr>
              <a:t>Stage 4: Core Metrics Computation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90853"/>
            <a:ext cx="342891" cy="26604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6733" y="1047749"/>
            <a:ext cx="5286242" cy="28575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Four Core Metrics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852" y="1771650"/>
            <a:ext cx="1057248" cy="2095499"/>
          </a:xfrm>
          <a:prstGeom prst="roundRect">
            <a:avLst>
              <a:gd name="adj" fmla="val 216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5842" y="1914525"/>
            <a:ext cx="28574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870" b="1">
                <a:solidFill>
                  <a:srgbClr val="64B5F6"/>
                </a:solidFill>
              </a:rPr>
              <a:t>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545" y="2628900"/>
            <a:ext cx="52386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FFFFFF"/>
                </a:solidFill>
              </a:rPr>
              <a:t>Pi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23" y="2943225"/>
            <a:ext cx="771505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Cycle detection and topological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52596" y="1771650"/>
            <a:ext cx="1057248" cy="2095499"/>
          </a:xfrm>
          <a:prstGeom prst="roundRect">
            <a:avLst>
              <a:gd name="adj" fmla="val 216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537" y="1914525"/>
            <a:ext cx="33336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870" b="1">
                <a:solidFill>
                  <a:srgbClr val="64B5F6"/>
                </a:solidFill>
              </a:rPr>
              <a:t>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1665" y="2628900"/>
            <a:ext cx="61910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FFFFFF"/>
                </a:solidFill>
              </a:rPr>
              <a:t>Phi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5467" y="2943225"/>
            <a:ext cx="771505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Connectivity and clustering 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9864" y="1771650"/>
            <a:ext cx="1057248" cy="2095499"/>
          </a:xfrm>
          <a:prstGeom prst="roundRect">
            <a:avLst>
              <a:gd name="adj" fmla="val 216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805" y="1914525"/>
            <a:ext cx="32384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870" b="1">
                <a:solidFill>
                  <a:srgbClr val="64B5F6"/>
                </a:solidFill>
              </a:rPr>
              <a:t>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2736" y="2628900"/>
            <a:ext cx="771505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FFFFFF"/>
                </a:solidFill>
              </a:rPr>
              <a:t>Omega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2736" y="3162299"/>
            <a:ext cx="771505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Spectral analysis and eigenvalues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57608" y="1771650"/>
            <a:ext cx="1057248" cy="2095499"/>
          </a:xfrm>
          <a:prstGeom prst="roundRect">
            <a:avLst>
              <a:gd name="adj" fmla="val 2162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8123" y="1914525"/>
            <a:ext cx="27621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2870" b="1">
                <a:solidFill>
                  <a:srgbClr val="64B5F6"/>
                </a:solidFill>
              </a:rPr>
              <a:t>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9054" y="2628900"/>
            <a:ext cx="71435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076" b="1">
                <a:solidFill>
                  <a:srgbClr val="FFFFFF"/>
                </a:solidFill>
              </a:rPr>
              <a:t>Beta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479" y="2943225"/>
            <a:ext cx="771505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Betweenness centrality and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4095749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852" y="4333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Parallel Processing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52" y="4819650"/>
            <a:ext cx="240976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64B5F6"/>
                </a:solidFill>
              </a:rPr>
              <a:t>2-3×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852" y="5343525"/>
            <a:ext cx="24097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0CAF9"/>
                </a:solidFill>
              </a:rPr>
              <a:t>Practical Speedup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52" y="5534025"/>
            <a:ext cx="240976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64B5F6"/>
                </a:solidFill>
              </a:rPr>
              <a:t>4×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52" y="6057900"/>
            <a:ext cx="24097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0CAF9"/>
                </a:solidFill>
              </a:rPr>
              <a:t>Theoretical Speedup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33746" y="5153024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324241" y="5388173"/>
            <a:ext cx="380990" cy="291703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657508" y="46767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08" y="4676775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4B5F6"/>
                </a:solidFill>
              </a:rPr>
              <a:t>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0479" y="46767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479" y="4676775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4B5F6"/>
                </a:solidFill>
              </a:rPr>
              <a:t>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508" y="58197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08" y="5819775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4B5F6"/>
                </a:solidFill>
              </a:rPr>
              <a:t>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0479" y="58197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479" y="5819775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4B5F6"/>
                </a:solidFill>
              </a:rPr>
              <a:t>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19449" y="4762500"/>
            <a:ext cx="571485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90935" y="4762500"/>
            <a:ext cx="571485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19449" y="5886450"/>
            <a:ext cx="571485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90935" y="5886450"/>
            <a:ext cx="571485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38719" y="1047749"/>
            <a:ext cx="5286242" cy="4038599"/>
          </a:xfrm>
          <a:prstGeom prst="roundRect">
            <a:avLst>
              <a:gd name="adj" fmla="val 566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76838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648283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19729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29274" y="1285875"/>
            <a:ext cx="172398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0CAF9"/>
                </a:solidFill>
              </a:rPr>
              <a:t>core_metrics_engine.py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6838" y="1647825"/>
            <a:ext cx="4810004" cy="3181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FFCB6B"/>
                </a:solidFill>
              </a:rPr>
              <a:t>CoreMetricsEngine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__init__</a:t>
            </a:r>
            <a:r>
              <a:rPr sz="837" b="0">
                <a:solidFill>
                  <a:srgbClr val="E0E0E0"/>
                </a:solidFill>
              </a:rPr>
              <a:t>(self): self.pi_core = PiCore() self.phi_core = PhiCore() self.omega_core = OmegaCore() self.beta_core = BetaCore() </a:t>
            </a:r>
            <a:r>
              <a:rPr sz="837" b="0">
                <a:solidFill>
                  <a:srgbClr val="546E7A"/>
                </a:solidFill>
              </a:rPr>
              <a:t># Caching for efficiency</a:t>
            </a:r>
            <a:r>
              <a:rPr sz="837" b="0">
                <a:solidFill>
                  <a:srgbClr val="E0E0E0"/>
                </a:solidFill>
              </a:rPr>
              <a:t> self.cache = {} self.cache_valid = </a:t>
            </a:r>
            <a:r>
              <a:rPr sz="837" b="0">
                <a:solidFill>
                  <a:srgbClr val="C792EA"/>
                </a:solidFill>
              </a:rPr>
              <a:t>False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compute_all</a:t>
            </a:r>
            <a:r>
              <a:rPr sz="837" b="0">
                <a:solidFill>
                  <a:srgbClr val="E0E0E0"/>
                </a:solidFill>
              </a:rPr>
              <a:t>(self, manifold: SubstrateManifold): </a:t>
            </a:r>
            <a:r>
              <a:rPr sz="837" b="0">
                <a:solidFill>
                  <a:srgbClr val="546E7A"/>
                </a:solidFill>
              </a:rPr>
              <a:t># Check cache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if</a:t>
            </a:r>
            <a:r>
              <a:rPr sz="837" b="0">
                <a:solidFill>
                  <a:srgbClr val="E0E0E0"/>
                </a:solidFill>
              </a:rPr>
              <a:t> self.cache_valid: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self.cache metrics = { </a:t>
            </a:r>
            <a:r>
              <a:rPr sz="837" b="0">
                <a:solidFill>
                  <a:srgbClr val="C3E88D"/>
                </a:solidFill>
              </a:rPr>
              <a:t>'pi'</a:t>
            </a:r>
            <a:r>
              <a:rPr sz="837" b="0">
                <a:solidFill>
                  <a:srgbClr val="E0E0E0"/>
                </a:solidFill>
              </a:rPr>
              <a:t>: self.pi_core(manifold), </a:t>
            </a:r>
            <a:r>
              <a:rPr sz="837" b="0">
                <a:solidFill>
                  <a:srgbClr val="C3E88D"/>
                </a:solidFill>
              </a:rPr>
              <a:t>'phi'</a:t>
            </a:r>
            <a:r>
              <a:rPr sz="837" b="0">
                <a:solidFill>
                  <a:srgbClr val="E0E0E0"/>
                </a:solidFill>
              </a:rPr>
              <a:t>: self.phi_core(manifold), </a:t>
            </a:r>
            <a:r>
              <a:rPr sz="837" b="0">
                <a:solidFill>
                  <a:srgbClr val="C3E88D"/>
                </a:solidFill>
              </a:rPr>
              <a:t>'omega'</a:t>
            </a:r>
            <a:r>
              <a:rPr sz="837" b="0">
                <a:solidFill>
                  <a:srgbClr val="E0E0E0"/>
                </a:solidFill>
              </a:rPr>
              <a:t>: self.omega_core(manifold), </a:t>
            </a:r>
            <a:r>
              <a:rPr sz="837" b="0">
                <a:solidFill>
                  <a:srgbClr val="C3E88D"/>
                </a:solidFill>
              </a:rPr>
              <a:t>'beta'</a:t>
            </a:r>
            <a:r>
              <a:rPr sz="837" b="0">
                <a:solidFill>
                  <a:srgbClr val="E0E0E0"/>
                </a:solidFill>
              </a:rPr>
              <a:t>: self.beta_core(manifold) } </a:t>
            </a:r>
            <a:r>
              <a:rPr sz="837" b="0">
                <a:solidFill>
                  <a:srgbClr val="546E7A"/>
                </a:solidFill>
              </a:rPr>
              <a:t># Update cache</a:t>
            </a:r>
            <a:r>
              <a:rPr sz="837" b="0">
                <a:solidFill>
                  <a:srgbClr val="E0E0E0"/>
                </a:solidFill>
              </a:rPr>
              <a:t> self.cache = metrics self.cache_valid = </a:t>
            </a:r>
            <a:r>
              <a:rPr sz="837" b="0">
                <a:solidFill>
                  <a:srgbClr val="C792EA"/>
                </a:solidFill>
              </a:rPr>
              <a:t>True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metrics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FFCB6B"/>
                </a:solidFill>
              </a:rPr>
              <a:t>ParallelCoreMetrics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compute_all</a:t>
            </a:r>
            <a:r>
              <a:rPr sz="837" b="0">
                <a:solidFill>
                  <a:srgbClr val="E0E0E0"/>
                </a:solidFill>
              </a:rPr>
              <a:t>(self, manifold: SubstrateManifold): </a:t>
            </a:r>
            <a:r>
              <a:rPr sz="837" b="0">
                <a:solidFill>
                  <a:srgbClr val="546E7A"/>
                </a:solidFill>
              </a:rPr>
              <a:t># Parallel computation</a:t>
            </a:r>
            <a:r>
              <a:rPr sz="837" b="0">
                <a:solidFill>
                  <a:srgbClr val="E0E0E0"/>
                </a:solidFill>
              </a:rPr>
              <a:t> futures = { name: self.executor.submit(core, manifold)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name, core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zip</a:t>
            </a:r>
            <a:r>
              <a:rPr sz="837" b="0">
                <a:solidFill>
                  <a:srgbClr val="E0E0E0"/>
                </a:solidFill>
              </a:rPr>
              <a:t>( [</a:t>
            </a:r>
            <a:r>
              <a:rPr sz="837" b="0">
                <a:solidFill>
                  <a:srgbClr val="C3E88D"/>
                </a:solidFill>
              </a:rPr>
              <a:t>'pi'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C3E88D"/>
                </a:solidFill>
              </a:rPr>
              <a:t>'phi'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C3E88D"/>
                </a:solidFill>
              </a:rPr>
              <a:t>'omega'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C3E88D"/>
                </a:solidFill>
              </a:rPr>
              <a:t>'beta'</a:t>
            </a:r>
            <a:r>
              <a:rPr sz="837" b="0">
                <a:solidFill>
                  <a:srgbClr val="E0E0E0"/>
                </a:solidFill>
              </a:rPr>
              <a:t>], self.cores ) }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{name: future.result()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name, future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futures.items()}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38719" y="5276850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6838" y="55149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Performance Metrics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76838" y="60007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43571" y="6143625"/>
            <a:ext cx="10000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15-25ms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81650" y="6534150"/>
            <a:ext cx="133346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Core Computation Time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53276" y="60007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67653" y="6143625"/>
            <a:ext cx="51433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85%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15237" y="6534150"/>
            <a:ext cx="120964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Total Processing Time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76838" y="69913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48303" y="7134225"/>
            <a:ext cx="159063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O(n²) to O(n³)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4997" y="7524749"/>
            <a:ext cx="105724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Omega Complexity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53276" y="69913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29514" y="7134225"/>
            <a:ext cx="138109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Fast Approx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86682" y="7524749"/>
            <a:ext cx="86675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Real-time Mode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5F"/>
            </a:gs>
            <a:gs pos="100000">
              <a:srgbClr val="0D1F33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2392" b="1">
                <a:solidFill>
                  <a:srgbClr val="FFFFFF"/>
                </a:solidFill>
              </a:rPr>
              <a:t>Stage 5: Anomaly Detection Logic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79029"/>
            <a:ext cx="342891" cy="28969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6733" y="1047749"/>
            <a:ext cx="5286242" cy="28575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Multi-Scale Detection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852" y="1771650"/>
            <a:ext cx="1447763" cy="1428750"/>
          </a:xfrm>
          <a:prstGeom prst="roundRect">
            <a:avLst>
              <a:gd name="adj" fmla="val 10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7723" y="1962149"/>
            <a:ext cx="266693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5822" y="20579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09664" y="1914525"/>
            <a:ext cx="800079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Short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23" y="2447924"/>
            <a:ext cx="116202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64B5F6"/>
                </a:solidFill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23" y="2876549"/>
            <a:ext cx="1162020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Detects sudden spikes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90735" y="1771650"/>
            <a:ext cx="1447763" cy="1428750"/>
          </a:xfrm>
          <a:prstGeom prst="roundRect">
            <a:avLst>
              <a:gd name="adj" fmla="val 10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33606" y="1962149"/>
            <a:ext cx="228594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752656" y="2080372"/>
            <a:ext cx="190495" cy="1064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57448" y="1914525"/>
            <a:ext cx="828654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Medium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3606" y="2447924"/>
            <a:ext cx="116202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64B5F6"/>
                </a:solidFill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3606" y="2876549"/>
            <a:ext cx="1162020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Detects gradual drift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7093" y="1771650"/>
            <a:ext cx="1447763" cy="1428750"/>
          </a:xfrm>
          <a:prstGeom prst="roundRect">
            <a:avLst>
              <a:gd name="adj" fmla="val 10666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19489" y="1962149"/>
            <a:ext cx="276218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457588" y="2080372"/>
            <a:ext cx="190495" cy="1064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81430" y="1914525"/>
            <a:ext cx="790555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Long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9489" y="2447924"/>
            <a:ext cx="116202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64B5F6"/>
                </a:solidFill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9489" y="2876549"/>
            <a:ext cx="1162020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Detects long-term trends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4095749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4852" y="4333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Fusion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852" y="4610099"/>
            <a:ext cx="2409764" cy="8572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64B5F6"/>
                </a:solidFill>
              </a:rPr>
              <a:t>Weighted 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4852" y="5562600"/>
            <a:ext cx="24097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0CAF9"/>
                </a:solidFill>
              </a:rPr>
              <a:t>π: 30% • φ: 30% • Ω: 20% • β: 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852" y="5753099"/>
            <a:ext cx="240976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52" b="1">
                <a:solidFill>
                  <a:srgbClr val="64B5F6"/>
                </a:solidFill>
              </a:rPr>
              <a:t>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852" y="6267449"/>
            <a:ext cx="24097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0CAF9"/>
                </a:solidFill>
              </a:rPr>
              <a:t>NORMAL • WARNING • CRITICAL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33746" y="5153024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64B5F6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24241" y="5395614"/>
            <a:ext cx="380990" cy="27682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3657508" y="46767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508" y="4676775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4B5F6"/>
                </a:solidFill>
              </a:rPr>
              <a:t>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479" y="46767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479" y="4676775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4B5F6"/>
                </a:solidFill>
              </a:rPr>
              <a:t>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508" y="58197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508" y="5819775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4B5F6"/>
                </a:solidFill>
              </a:rPr>
              <a:t>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00479" y="581977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479" y="5819775"/>
            <a:ext cx="5714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64B5F6"/>
                </a:solidFill>
              </a:rPr>
              <a:t>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19449" y="4762500"/>
            <a:ext cx="571485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90935" y="4762500"/>
            <a:ext cx="571485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19449" y="5886450"/>
            <a:ext cx="571485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90935" y="5886450"/>
            <a:ext cx="571485" cy="19050"/>
          </a:xfrm>
          <a:prstGeom prst="rect">
            <a:avLst/>
          </a:prstGeom>
          <a:solidFill>
            <a:srgbClr val="64B5F6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38719" y="1047749"/>
            <a:ext cx="5286242" cy="4638674"/>
          </a:xfrm>
          <a:prstGeom prst="roundRect">
            <a:avLst>
              <a:gd name="adj" fmla="val 4928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76838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48283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819729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29274" y="1285875"/>
            <a:ext cx="160968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0CAF9"/>
                </a:solidFill>
              </a:rPr>
              <a:t>anomaly_detection.py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6838" y="1647825"/>
            <a:ext cx="4810004" cy="37814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FFCB6B"/>
                </a:solidFill>
              </a:rPr>
              <a:t>MultiScaleDetector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__init__</a:t>
            </a:r>
            <a:r>
              <a:rPr sz="837" b="0">
                <a:solidFill>
                  <a:srgbClr val="E0E0E0"/>
                </a:solidFill>
              </a:rPr>
              <a:t>(self, windows: List[</a:t>
            </a:r>
            <a:r>
              <a:rPr sz="837" b="0">
                <a:solidFill>
                  <a:srgbClr val="FFCB6B"/>
                </a:solidFill>
              </a:rPr>
              <a:t>int</a:t>
            </a:r>
            <a:r>
              <a:rPr sz="837" b="0">
                <a:solidFill>
                  <a:srgbClr val="E0E0E0"/>
                </a:solidFill>
              </a:rPr>
              <a:t>] = [</a:t>
            </a:r>
            <a:r>
              <a:rPr sz="837" b="0">
                <a:solidFill>
                  <a:srgbClr val="F78C6C"/>
                </a:solidFill>
              </a:rPr>
              <a:t>10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F78C6C"/>
                </a:solidFill>
              </a:rPr>
              <a:t>50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F78C6C"/>
                </a:solidFill>
              </a:rPr>
              <a:t>200</a:t>
            </a:r>
            <a:r>
              <a:rPr sz="837" b="0">
                <a:solidFill>
                  <a:srgbClr val="E0E0E0"/>
                </a:solidFill>
              </a:rPr>
              <a:t>]): self.windows = windows self.detectors = {w: BaselineEstimator()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w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windows}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detect</a:t>
            </a:r>
            <a:r>
              <a:rPr sz="837" b="0">
                <a:solidFill>
                  <a:srgbClr val="E0E0E0"/>
                </a:solidFill>
              </a:rPr>
              <a:t>(self, metrics_history: List[Dict[</a:t>
            </a:r>
            <a:r>
              <a:rPr sz="837" b="0">
                <a:solidFill>
                  <a:srgbClr val="FFCB6B"/>
                </a:solidFill>
              </a:rPr>
              <a:t>str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FFCB6B"/>
                </a:solidFill>
              </a:rPr>
              <a:t>float</a:t>
            </a:r>
            <a:r>
              <a:rPr sz="837" b="0">
                <a:solidFill>
                  <a:srgbClr val="E0E0E0"/>
                </a:solidFill>
              </a:rPr>
              <a:t>]]): </a:t>
            </a:r>
            <a:r>
              <a:rPr sz="837" b="0">
                <a:solidFill>
                  <a:srgbClr val="546E7A"/>
                </a:solidFill>
              </a:rPr>
              <a:t># Detect anomalies at each timescale</a:t>
            </a:r>
            <a:r>
              <a:rPr sz="837" b="0">
                <a:solidFill>
                  <a:srgbClr val="E0E0E0"/>
                </a:solidFill>
              </a:rPr>
              <a:t> results = {}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window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self.windows: </a:t>
            </a:r>
            <a:r>
              <a:rPr sz="837" b="0">
                <a:solidFill>
                  <a:srgbClr val="C792EA"/>
                </a:solidFill>
              </a:rPr>
              <a:t>if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len</a:t>
            </a:r>
            <a:r>
              <a:rPr sz="837" b="0">
                <a:solidFill>
                  <a:srgbClr val="E0E0E0"/>
                </a:solidFill>
              </a:rPr>
              <a:t>(metrics_history) &gt;= window: recent = metrics_history[-window:] current = metrics_history[-</a:t>
            </a:r>
            <a:r>
              <a:rPr sz="837" b="0">
                <a:solidFill>
                  <a:srgbClr val="F78C6C"/>
                </a:solidFill>
              </a:rPr>
              <a:t>1</a:t>
            </a:r>
            <a:r>
              <a:rPr sz="837" b="0">
                <a:solidFill>
                  <a:srgbClr val="E0E0E0"/>
                </a:solidFill>
              </a:rPr>
              <a:t>] </a:t>
            </a:r>
            <a:r>
              <a:rPr sz="837" b="0">
                <a:solidFill>
                  <a:srgbClr val="546E7A"/>
                </a:solidFill>
              </a:rPr>
              <a:t># Compute statistics over window</a:t>
            </a:r>
            <a:r>
              <a:rPr sz="837" b="0">
                <a:solidFill>
                  <a:srgbClr val="E0E0E0"/>
                </a:solidFill>
              </a:rPr>
              <a:t> stats = { key: { </a:t>
            </a:r>
            <a:r>
              <a:rPr sz="837" b="0">
                <a:solidFill>
                  <a:srgbClr val="C3E88D"/>
                </a:solidFill>
              </a:rPr>
              <a:t>'mean'</a:t>
            </a:r>
            <a:r>
              <a:rPr sz="837" b="0">
                <a:solidFill>
                  <a:srgbClr val="E0E0E0"/>
                </a:solidFill>
              </a:rPr>
              <a:t>: np.mean([m[key]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m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recent]), </a:t>
            </a:r>
            <a:r>
              <a:rPr sz="837" b="0">
                <a:solidFill>
                  <a:srgbClr val="C3E88D"/>
                </a:solidFill>
              </a:rPr>
              <a:t>'std'</a:t>
            </a:r>
            <a:r>
              <a:rPr sz="837" b="0">
                <a:solidFill>
                  <a:srgbClr val="E0E0E0"/>
                </a:solidFill>
              </a:rPr>
              <a:t>: np.std([m[key]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m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recent]) }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key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current.keys() } </a:t>
            </a:r>
            <a:r>
              <a:rPr sz="837" b="0">
                <a:solidFill>
                  <a:srgbClr val="546E7A"/>
                </a:solidFill>
              </a:rPr>
              <a:t># Check if current deviates from window stats</a:t>
            </a:r>
            <a:r>
              <a:rPr sz="837" b="0">
                <a:solidFill>
                  <a:srgbClr val="E0E0E0"/>
                </a:solidFill>
              </a:rPr>
              <a:t> anomalous = { key: abs(current[key] - stats[key][</a:t>
            </a:r>
            <a:r>
              <a:rPr sz="837" b="0">
                <a:solidFill>
                  <a:srgbClr val="C3E88D"/>
                </a:solidFill>
              </a:rPr>
              <a:t>'mean'</a:t>
            </a:r>
            <a:r>
              <a:rPr sz="837" b="0">
                <a:solidFill>
                  <a:srgbClr val="E0E0E0"/>
                </a:solidFill>
              </a:rPr>
              <a:t>]) &gt; </a:t>
            </a:r>
            <a:r>
              <a:rPr sz="837" b="0">
                <a:solidFill>
                  <a:srgbClr val="F78C6C"/>
                </a:solidFill>
              </a:rPr>
              <a:t>3</a:t>
            </a:r>
            <a:r>
              <a:rPr sz="837" b="0">
                <a:solidFill>
                  <a:srgbClr val="E0E0E0"/>
                </a:solidFill>
              </a:rPr>
              <a:t> * stats[key][</a:t>
            </a:r>
            <a:r>
              <a:rPr sz="837" b="0">
                <a:solidFill>
                  <a:srgbClr val="C3E88D"/>
                </a:solidFill>
              </a:rPr>
              <a:t>'std'</a:t>
            </a:r>
            <a:r>
              <a:rPr sz="837" b="0">
                <a:solidFill>
                  <a:srgbClr val="E0E0E0"/>
                </a:solidFill>
              </a:rPr>
              <a:t>]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key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current.keys() } results[window] = anomalous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results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FFCB6B"/>
                </a:solidFill>
              </a:rPr>
              <a:t>AnomalyFusion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fuse</a:t>
            </a:r>
            <a:r>
              <a:rPr sz="837" b="0">
                <a:solidFill>
                  <a:srgbClr val="E0E0E0"/>
                </a:solidFill>
              </a:rPr>
              <a:t>(self, anomaly_scores: Dict[</a:t>
            </a:r>
            <a:r>
              <a:rPr sz="837" b="0">
                <a:solidFill>
                  <a:srgbClr val="FFCB6B"/>
                </a:solidFill>
              </a:rPr>
              <a:t>str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FFCB6B"/>
                </a:solidFill>
              </a:rPr>
              <a:t>float</a:t>
            </a:r>
            <a:r>
              <a:rPr sz="837" b="0">
                <a:solidFill>
                  <a:srgbClr val="E0E0E0"/>
                </a:solidFill>
              </a:rPr>
              <a:t>]) -&gt; </a:t>
            </a:r>
            <a:r>
              <a:rPr sz="837" b="0">
                <a:solidFill>
                  <a:srgbClr val="FFCB6B"/>
                </a:solidFill>
              </a:rPr>
              <a:t>float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546E7A"/>
                </a:solidFill>
              </a:rPr>
              <a:t># Weighted fusion of anomaly scores</a:t>
            </a:r>
            <a:r>
              <a:rPr sz="837" b="0">
                <a:solidFill>
                  <a:srgbClr val="E0E0E0"/>
                </a:solidFill>
              </a:rPr>
              <a:t> score = sum( self.weights[key] * anomaly_scores.get(key, </a:t>
            </a:r>
            <a:r>
              <a:rPr sz="837" b="0">
                <a:solidFill>
                  <a:srgbClr val="F78C6C"/>
                </a:solidFill>
              </a:rPr>
              <a:t>0</a:t>
            </a:r>
            <a:r>
              <a:rPr sz="837" b="0">
                <a:solidFill>
                  <a:srgbClr val="E0E0E0"/>
                </a:solidFill>
              </a:rPr>
              <a:t>)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key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self.weights.keys() )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min</a:t>
            </a:r>
            <a:r>
              <a:rPr sz="837" b="0">
                <a:solidFill>
                  <a:srgbClr val="E0E0E0"/>
                </a:solidFill>
              </a:rPr>
              <a:t>(</a:t>
            </a:r>
            <a:r>
              <a:rPr sz="837" b="0">
                <a:solidFill>
                  <a:srgbClr val="F78C6C"/>
                </a:solidFill>
              </a:rPr>
              <a:t>1.0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82AAFF"/>
                </a:solidFill>
              </a:rPr>
              <a:t>max</a:t>
            </a:r>
            <a:r>
              <a:rPr sz="837" b="0">
                <a:solidFill>
                  <a:srgbClr val="E0E0E0"/>
                </a:solidFill>
              </a:rPr>
              <a:t>(</a:t>
            </a:r>
            <a:r>
              <a:rPr sz="837" b="0">
                <a:solidFill>
                  <a:srgbClr val="F78C6C"/>
                </a:solidFill>
              </a:rPr>
              <a:t>0.0</a:t>
            </a:r>
            <a:r>
              <a:rPr sz="837" b="0">
                <a:solidFill>
                  <a:srgbClr val="E0E0E0"/>
                </a:solidFill>
              </a:rPr>
              <a:t>, score)) 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38719" y="5876925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76838" y="6115050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Detection Performance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76838" y="6600825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86442" y="6743700"/>
            <a:ext cx="70483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0.5ms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43571" y="7134225"/>
            <a:ext cx="100009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Detection Latency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53276" y="6600825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67653" y="6743700"/>
            <a:ext cx="51433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95%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91435" y="7134225"/>
            <a:ext cx="106677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Baseline Threshold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76838" y="7591424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5987" y="7734299"/>
            <a:ext cx="29526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3σ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76898" y="8124824"/>
            <a:ext cx="113344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Statistical Threshold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53276" y="7591424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15257" y="7734299"/>
            <a:ext cx="80960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0.3/0.6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67613" y="8124824"/>
            <a:ext cx="130489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Warning/Critical Scores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5F"/>
            </a:gs>
            <a:gs pos="100000">
              <a:srgbClr val="0D1F33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2392" b="1">
                <a:solidFill>
                  <a:srgbClr val="FFFFFF"/>
                </a:solidFill>
              </a:rPr>
              <a:t>Stage 6: Decision Logic &amp; Actions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402677"/>
            <a:ext cx="342891" cy="24239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6733" y="1047749"/>
            <a:ext cx="5286242" cy="28575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State Machine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852" y="2247899"/>
            <a:ext cx="1142971" cy="11430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323941" y="2557096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90595" y="2914650"/>
            <a:ext cx="5714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NORMAL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4021" y="2247899"/>
            <a:ext cx="1142971" cy="11430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543111" y="2562957"/>
            <a:ext cx="304792" cy="246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81190" y="2914650"/>
            <a:ext cx="638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WARNING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716" y="2247899"/>
            <a:ext cx="1142971" cy="11430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771805" y="2557096"/>
            <a:ext cx="304792" cy="2579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19409" y="2914650"/>
            <a:ext cx="6000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1885" y="2247899"/>
            <a:ext cx="1142971" cy="11430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990975" y="2540976"/>
            <a:ext cx="304792" cy="29014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67133" y="2914650"/>
            <a:ext cx="9620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MAINTENANCE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095749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852" y="4333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Action Execution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852" y="4819650"/>
            <a:ext cx="2333566" cy="695325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47723" y="49720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42971" y="5098116"/>
            <a:ext cx="190495" cy="12886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71585" y="4962525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1585" y="5200650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Normal operation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1290" y="4819650"/>
            <a:ext cx="2333566" cy="695325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24161" y="49720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619409" y="5086910"/>
            <a:ext cx="190495" cy="1512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048023" y="4962525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8023" y="5200650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Record events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852" y="5657850"/>
            <a:ext cx="2333566" cy="695325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47723" y="581024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42971" y="5920908"/>
            <a:ext cx="190495" cy="15968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71585" y="5800725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Notify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1585" y="6038849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Alert operators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1290" y="5657850"/>
            <a:ext cx="2333566" cy="695325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524161" y="581024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3619409" y="5911102"/>
            <a:ext cx="190495" cy="17929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048023" y="5800725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Failsafe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8023" y="6038849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Emergency response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8719" y="1047749"/>
            <a:ext cx="5286242" cy="4038599"/>
          </a:xfrm>
          <a:prstGeom prst="roundRect">
            <a:avLst>
              <a:gd name="adj" fmla="val 566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76838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48283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819729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29274" y="1285875"/>
            <a:ext cx="139061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0CAF9"/>
                </a:solidFill>
              </a:rPr>
              <a:t>decision_engine.py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6838" y="1647825"/>
            <a:ext cx="4810004" cy="3181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FFCB6B"/>
                </a:solidFill>
              </a:rPr>
              <a:t>DecisionEngine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update</a:t>
            </a:r>
            <a:r>
              <a:rPr sz="837" b="0">
                <a:solidFill>
                  <a:srgbClr val="E0E0E0"/>
                </a:solidFill>
              </a:rPr>
              <a:t>(self, anomaly_score: </a:t>
            </a:r>
            <a:r>
              <a:rPr sz="837" b="0">
                <a:solidFill>
                  <a:srgbClr val="FFCB6B"/>
                </a:solidFill>
              </a:rPr>
              <a:t>float</a:t>
            </a:r>
            <a:r>
              <a:rPr sz="837" b="0">
                <a:solidFill>
                  <a:srgbClr val="E0E0E0"/>
                </a:solidFill>
              </a:rPr>
              <a:t>): </a:t>
            </a:r>
            <a:r>
              <a:rPr sz="837" b="0">
                <a:solidFill>
                  <a:srgbClr val="546E7A"/>
                </a:solidFill>
              </a:rPr>
              <a:t># State transitions based on anomaly score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if</a:t>
            </a:r>
            <a:r>
              <a:rPr sz="837" b="0">
                <a:solidFill>
                  <a:srgbClr val="E0E0E0"/>
                </a:solidFill>
              </a:rPr>
              <a:t> self.state == SystemState.NORMAL: </a:t>
            </a:r>
            <a:r>
              <a:rPr sz="837" b="0">
                <a:solidFill>
                  <a:srgbClr val="C792EA"/>
                </a:solidFill>
              </a:rPr>
              <a:t>if</a:t>
            </a:r>
            <a:r>
              <a:rPr sz="837" b="0">
                <a:solidFill>
                  <a:srgbClr val="E0E0E0"/>
                </a:solidFill>
              </a:rPr>
              <a:t> anomaly_score &gt; </a:t>
            </a:r>
            <a:r>
              <a:rPr sz="837" b="0">
                <a:solidFill>
                  <a:srgbClr val="F78C6C"/>
                </a:solidFill>
              </a:rPr>
              <a:t>0.6</a:t>
            </a:r>
            <a:r>
              <a:rPr sz="837" b="0">
                <a:solidFill>
                  <a:srgbClr val="E0E0E0"/>
                </a:solidFill>
              </a:rPr>
              <a:t>: self.state = SystemState.CRITICAL </a:t>
            </a:r>
            <a:r>
              <a:rPr sz="837" b="0">
                <a:solidFill>
                  <a:srgbClr val="C792EA"/>
                </a:solidFill>
              </a:rPr>
              <a:t>elif</a:t>
            </a:r>
            <a:r>
              <a:rPr sz="837" b="0">
                <a:solidFill>
                  <a:srgbClr val="E0E0E0"/>
                </a:solidFill>
              </a:rPr>
              <a:t> anomaly_score &gt; </a:t>
            </a:r>
            <a:r>
              <a:rPr sz="837" b="0">
                <a:solidFill>
                  <a:srgbClr val="F78C6C"/>
                </a:solidFill>
              </a:rPr>
              <a:t>0.3</a:t>
            </a:r>
            <a:r>
              <a:rPr sz="837" b="0">
                <a:solidFill>
                  <a:srgbClr val="E0E0E0"/>
                </a:solidFill>
              </a:rPr>
              <a:t>: self.state = SystemState.WARNING </a:t>
            </a:r>
            <a:r>
              <a:rPr sz="837" b="0">
                <a:solidFill>
                  <a:srgbClr val="C792EA"/>
                </a:solidFill>
              </a:rPr>
              <a:t>elif</a:t>
            </a:r>
            <a:r>
              <a:rPr sz="837" b="0">
                <a:solidFill>
                  <a:srgbClr val="E0E0E0"/>
                </a:solidFill>
              </a:rPr>
              <a:t> self.state == SystemState.WARNING: </a:t>
            </a:r>
            <a:r>
              <a:rPr sz="837" b="0">
                <a:solidFill>
                  <a:srgbClr val="C792EA"/>
                </a:solidFill>
              </a:rPr>
              <a:t>if</a:t>
            </a:r>
            <a:r>
              <a:rPr sz="837" b="0">
                <a:solidFill>
                  <a:srgbClr val="E0E0E0"/>
                </a:solidFill>
              </a:rPr>
              <a:t> anomaly_score &lt; </a:t>
            </a:r>
            <a:r>
              <a:rPr sz="837" b="0">
                <a:solidFill>
                  <a:srgbClr val="F78C6C"/>
                </a:solidFill>
              </a:rPr>
              <a:t>0.2</a:t>
            </a:r>
            <a:r>
              <a:rPr sz="837" b="0">
                <a:solidFill>
                  <a:srgbClr val="E0E0E0"/>
                </a:solidFill>
              </a:rPr>
              <a:t>: self.state = SystemState.NORMAL </a:t>
            </a:r>
            <a:r>
              <a:rPr sz="837" b="0">
                <a:solidFill>
                  <a:srgbClr val="C792EA"/>
                </a:solidFill>
              </a:rPr>
              <a:t>elif</a:t>
            </a:r>
            <a:r>
              <a:rPr sz="837" b="0">
                <a:solidFill>
                  <a:srgbClr val="E0E0E0"/>
                </a:solidFill>
              </a:rPr>
              <a:t> anomaly_score &gt; </a:t>
            </a:r>
            <a:r>
              <a:rPr sz="837" b="0">
                <a:solidFill>
                  <a:srgbClr val="F78C6C"/>
                </a:solidFill>
              </a:rPr>
              <a:t>0.6</a:t>
            </a:r>
            <a:r>
              <a:rPr sz="837" b="0">
                <a:solidFill>
                  <a:srgbClr val="E0E0E0"/>
                </a:solidFill>
              </a:rPr>
              <a:t>: self.state = SystemState.CRITICAL </a:t>
            </a:r>
            <a:r>
              <a:rPr sz="837" b="0">
                <a:solidFill>
                  <a:srgbClr val="C792EA"/>
                </a:solidFill>
              </a:rPr>
              <a:t>elif</a:t>
            </a:r>
            <a:r>
              <a:rPr sz="837" b="0">
                <a:solidFill>
                  <a:srgbClr val="E0E0E0"/>
                </a:solidFill>
              </a:rPr>
              <a:t> self.state == SystemState.CRITICAL: </a:t>
            </a:r>
            <a:r>
              <a:rPr sz="837" b="0">
                <a:solidFill>
                  <a:srgbClr val="546E7A"/>
                </a:solidFill>
              </a:rPr>
              <a:t># Require manual intervention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if</a:t>
            </a:r>
            <a:r>
              <a:rPr sz="837" b="0">
                <a:solidFill>
                  <a:srgbClr val="E0E0E0"/>
                </a:solidFill>
              </a:rPr>
              <a:t> anomaly_score &lt; </a:t>
            </a:r>
            <a:r>
              <a:rPr sz="837" b="0">
                <a:solidFill>
                  <a:srgbClr val="F78C6C"/>
                </a:solidFill>
              </a:rPr>
              <a:t>0.3</a:t>
            </a:r>
            <a:r>
              <a:rPr sz="837" b="0">
                <a:solidFill>
                  <a:srgbClr val="E0E0E0"/>
                </a:solidFill>
              </a:rPr>
              <a:t>: self.state = SystemState.WARNING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get_actions</a:t>
            </a:r>
            <a:r>
              <a:rPr sz="837" b="0">
                <a:solidFill>
                  <a:srgbClr val="E0E0E0"/>
                </a:solidFill>
              </a:rPr>
              <a:t>(self) -&gt; List[</a:t>
            </a:r>
            <a:r>
              <a:rPr sz="837" b="0">
                <a:solidFill>
                  <a:srgbClr val="FFCB6B"/>
                </a:solidFill>
              </a:rPr>
              <a:t>str</a:t>
            </a:r>
            <a:r>
              <a:rPr sz="837" b="0">
                <a:solidFill>
                  <a:srgbClr val="E0E0E0"/>
                </a:solidFill>
              </a:rPr>
              <a:t>]: </a:t>
            </a:r>
            <a:r>
              <a:rPr sz="837" b="0">
                <a:solidFill>
                  <a:srgbClr val="546E7A"/>
                </a:solidFill>
              </a:rPr>
              <a:t># Determine actions based on current state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if</a:t>
            </a:r>
            <a:r>
              <a:rPr sz="837" b="0">
                <a:solidFill>
                  <a:srgbClr val="E0E0E0"/>
                </a:solidFill>
              </a:rPr>
              <a:t> self.state == SystemState.NORMAL: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[</a:t>
            </a:r>
            <a:r>
              <a:rPr sz="837" b="0">
                <a:solidFill>
                  <a:srgbClr val="C3E88D"/>
                </a:solidFill>
              </a:rPr>
              <a:t>"monitor"</a:t>
            </a:r>
            <a:r>
              <a:rPr sz="837" b="0">
                <a:solidFill>
                  <a:srgbClr val="E0E0E0"/>
                </a:solidFill>
              </a:rPr>
              <a:t>] </a:t>
            </a:r>
            <a:r>
              <a:rPr sz="837" b="0">
                <a:solidFill>
                  <a:srgbClr val="C792EA"/>
                </a:solidFill>
              </a:rPr>
              <a:t>elif</a:t>
            </a:r>
            <a:r>
              <a:rPr sz="837" b="0">
                <a:solidFill>
                  <a:srgbClr val="E0E0E0"/>
                </a:solidFill>
              </a:rPr>
              <a:t> self.state == SystemState.WARNING: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[</a:t>
            </a:r>
            <a:r>
              <a:rPr sz="837" b="0">
                <a:solidFill>
                  <a:srgbClr val="C3E88D"/>
                </a:solidFill>
              </a:rPr>
              <a:t>"monitor"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C3E88D"/>
                </a:solidFill>
              </a:rPr>
              <a:t>"log"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C3E88D"/>
                </a:solidFill>
              </a:rPr>
              <a:t>"notify_operator"</a:t>
            </a:r>
            <a:r>
              <a:rPr sz="837" b="0">
                <a:solidFill>
                  <a:srgbClr val="E0E0E0"/>
                </a:solidFill>
              </a:rPr>
              <a:t>] </a:t>
            </a:r>
            <a:r>
              <a:rPr sz="837" b="0">
                <a:solidFill>
                  <a:srgbClr val="C792EA"/>
                </a:solidFill>
              </a:rPr>
              <a:t>elif</a:t>
            </a:r>
            <a:r>
              <a:rPr sz="837" b="0">
                <a:solidFill>
                  <a:srgbClr val="E0E0E0"/>
                </a:solidFill>
              </a:rPr>
              <a:t> self.state == SystemState.CRITICAL: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[</a:t>
            </a:r>
            <a:r>
              <a:rPr sz="837" b="0">
                <a:solidFill>
                  <a:srgbClr val="C3E88D"/>
                </a:solidFill>
              </a:rPr>
              <a:t>"alert"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C3E88D"/>
                </a:solidFill>
              </a:rPr>
              <a:t>"log"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C3E88D"/>
                </a:solidFill>
              </a:rPr>
              <a:t>"notify_operator"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C3E88D"/>
                </a:solidFill>
              </a:rPr>
              <a:t>"trigger_failsafe"</a:t>
            </a:r>
            <a:r>
              <a:rPr sz="837" b="0">
                <a:solidFill>
                  <a:srgbClr val="E0E0E0"/>
                </a:solidFill>
              </a:rPr>
              <a:t>] 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38719" y="5276850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6838" y="55149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Response Performance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76838" y="60007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86442" y="6143625"/>
            <a:ext cx="70483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0.1ms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2145" y="6534150"/>
            <a:ext cx="94295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Decision Latency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53276" y="60007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86662" y="6143625"/>
            <a:ext cx="127631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Immediate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58108" y="6534150"/>
            <a:ext cx="92390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Action Execution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76838" y="69913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38819" y="7134225"/>
            <a:ext cx="80960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0.3/0.6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67353" y="7524749"/>
            <a:ext cx="155253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Warning/Critical Thresholds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53276" y="69913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91455" y="7134225"/>
            <a:ext cx="64768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100%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20009" y="7524749"/>
            <a:ext cx="100009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Failsafe Reliability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5F"/>
            </a:gs>
            <a:gs pos="100000">
              <a:srgbClr val="0D1F33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2392" b="1">
                <a:solidFill>
                  <a:srgbClr val="FFFFFF"/>
                </a:solidFill>
              </a:rPr>
              <a:t>Stage 7: Complete System Integration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77551"/>
            <a:ext cx="342891" cy="29264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6733" y="1047749"/>
            <a:ext cx="5286242" cy="28575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End-to-End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852" y="1771650"/>
            <a:ext cx="1142971" cy="57150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362040" y="1868804"/>
            <a:ext cx="228594" cy="1485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4397" y="2114550"/>
            <a:ext cx="73340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Sensor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4021" y="1771650"/>
            <a:ext cx="1142971" cy="57150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581210" y="1860232"/>
            <a:ext cx="228594" cy="1657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95467" y="2114550"/>
            <a:ext cx="80960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Preprocessing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716" y="1771650"/>
            <a:ext cx="1142971" cy="57150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809904" y="1845944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67033" y="2114550"/>
            <a:ext cx="50481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Manifold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1885" y="1771650"/>
            <a:ext cx="1142971" cy="57150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029074" y="1854517"/>
            <a:ext cx="228594" cy="177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90955" y="2114550"/>
            <a:ext cx="714357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Core 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852" y="2676524"/>
            <a:ext cx="1142971" cy="57150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362040" y="2760345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00119" y="3009900"/>
            <a:ext cx="55243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131" y="2676524"/>
            <a:ext cx="1142971" cy="57150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3200319" y="2774632"/>
            <a:ext cx="228594" cy="16573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905052" y="3009900"/>
            <a:ext cx="81912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Decision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1885" y="2676524"/>
            <a:ext cx="1142971" cy="57150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64B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029074" y="2786062"/>
            <a:ext cx="228594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67133" y="3009900"/>
            <a:ext cx="95247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</a:rPr>
              <a:t>Action Execution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4095749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852" y="4333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System Performance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4852" y="48196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71585" y="4962525"/>
            <a:ext cx="100009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20-30ms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4932" y="5353049"/>
            <a:ext cx="74293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Total Latency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1290" y="4819650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8994" y="4962525"/>
            <a:ext cx="64768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~2MB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48023" y="5353049"/>
            <a:ext cx="100962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Memory Footprint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852" y="5810249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04932" y="5953124"/>
            <a:ext cx="72388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100Hz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3011" y="6343650"/>
            <a:ext cx="1057248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Max Sampling Rate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1290" y="5810249"/>
            <a:ext cx="2333566" cy="847724"/>
          </a:xfrm>
          <a:prstGeom prst="roundRect">
            <a:avLst>
              <a:gd name="adj" fmla="val 1797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4241" y="5953124"/>
            <a:ext cx="447663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64B5F6"/>
                </a:solidFill>
              </a:rPr>
              <a:t>10K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48043" y="6343650"/>
            <a:ext cx="5905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Buffer Size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8719" y="1047749"/>
            <a:ext cx="5286242" cy="8639175"/>
          </a:xfrm>
          <a:prstGeom prst="roundRect">
            <a:avLst>
              <a:gd name="adj" fmla="val 4324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476838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648283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819729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29274" y="1285875"/>
            <a:ext cx="241928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0CAF9"/>
                </a:solidFill>
              </a:rPr>
              <a:t>geometric_monitoring_system.py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6838" y="1647825"/>
            <a:ext cx="4810004" cy="77819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FFCB6B"/>
                </a:solidFill>
              </a:rPr>
              <a:t>GeometricMonitoringSystem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__init__</a:t>
            </a:r>
            <a:r>
              <a:rPr sz="837" b="0">
                <a:solidFill>
                  <a:srgbClr val="E0E0E0"/>
                </a:solidFill>
              </a:rPr>
              <a:t>(self, config: </a:t>
            </a:r>
            <a:r>
              <a:rPr sz="837" b="0">
                <a:solidFill>
                  <a:srgbClr val="FFCB6B"/>
                </a:solidFill>
              </a:rPr>
              <a:t>dict</a:t>
            </a:r>
            <a:r>
              <a:rPr sz="837" b="0">
                <a:solidFill>
                  <a:srgbClr val="E0E0E0"/>
                </a:solidFill>
              </a:rPr>
              <a:t>): </a:t>
            </a:r>
            <a:r>
              <a:rPr sz="837" b="0">
                <a:solidFill>
                  <a:srgbClr val="546E7A"/>
                </a:solidFill>
              </a:rPr>
              <a:t># Initialize all components</a:t>
            </a:r>
            <a:r>
              <a:rPr sz="837" b="0">
                <a:solidFill>
                  <a:srgbClr val="E0E0E0"/>
                </a:solidFill>
              </a:rPr>
              <a:t> self.buffer = CircularBuffer(max_size=config[</a:t>
            </a:r>
            <a:r>
              <a:rPr sz="837" b="0">
                <a:solidFill>
                  <a:srgbClr val="C3E88D"/>
                </a:solidFill>
              </a:rPr>
              <a:t>'buffer_size'</a:t>
            </a:r>
            <a:r>
              <a:rPr sz="837" b="0">
                <a:solidFill>
                  <a:srgbClr val="E0E0E0"/>
                </a:solidFill>
              </a:rPr>
              <a:t>]) self.cleaner = DataCleaner() self.filter = SignalFilter(**config[</a:t>
            </a:r>
            <a:r>
              <a:rPr sz="837" b="0">
                <a:solidFill>
                  <a:srgbClr val="C3E88D"/>
                </a:solidFill>
              </a:rPr>
              <a:t>'filter_params'</a:t>
            </a:r>
            <a:r>
              <a:rPr sz="837" b="0">
                <a:solidFill>
                  <a:srgbClr val="E0E0E0"/>
                </a:solidFill>
              </a:rPr>
              <a:t>]) self.normalizer = Normalizer() self.embedder = StateSpaceEmbedding(**config[</a:t>
            </a:r>
            <a:r>
              <a:rPr sz="837" b="0">
                <a:solidFill>
                  <a:srgbClr val="C3E88D"/>
                </a:solidFill>
              </a:rPr>
              <a:t>'embedding_params'</a:t>
            </a:r>
            <a:r>
              <a:rPr sz="837" b="0">
                <a:solidFill>
                  <a:srgbClr val="E0E0E0"/>
                </a:solidFill>
              </a:rPr>
              <a:t>]) self.manifold = IncrementalManifold(**config[</a:t>
            </a:r>
            <a:r>
              <a:rPr sz="837" b="0">
                <a:solidFill>
                  <a:srgbClr val="C3E88D"/>
                </a:solidFill>
              </a:rPr>
              <a:t>'manifold_params'</a:t>
            </a:r>
            <a:r>
              <a:rPr sz="837" b="0">
                <a:solidFill>
                  <a:srgbClr val="E0E0E0"/>
                </a:solidFill>
              </a:rPr>
              <a:t>]) self.core_engine = CoreMetricsEngine() self.detector = MultiScaleDetector() self.decision_engine = DecisionEngine() self.action_executor = ActionExecutor() self.metrics_history = []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process_reading</a:t>
            </a:r>
            <a:r>
              <a:rPr sz="837" b="0">
                <a:solidFill>
                  <a:srgbClr val="E0E0E0"/>
                </a:solidFill>
              </a:rPr>
              <a:t>(self, reading: SensorReading): </a:t>
            </a:r>
            <a:r>
              <a:rPr sz="837" b="0">
                <a:solidFill>
                  <a:srgbClr val="546E7A"/>
                </a:solidFill>
              </a:rPr>
              <a:t># 1. Buffer</a:t>
            </a:r>
            <a:r>
              <a:rPr sz="837" b="0">
                <a:solidFill>
                  <a:srgbClr val="E0E0E0"/>
                </a:solidFill>
              </a:rPr>
              <a:t> self.buffer.push(reading) </a:t>
            </a:r>
            <a:r>
              <a:rPr sz="837" b="0">
                <a:solidFill>
                  <a:srgbClr val="546E7A"/>
                </a:solidFill>
              </a:rPr>
              <a:t># 2. Check if enough data for processing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if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len</a:t>
            </a:r>
            <a:r>
              <a:rPr sz="837" b="0">
                <a:solidFill>
                  <a:srgbClr val="E0E0E0"/>
                </a:solidFill>
              </a:rPr>
              <a:t>(self.buffer.buffer) &lt; self.embedder.window_size: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546E7A"/>
                </a:solidFill>
              </a:rPr>
              <a:t># 3. Get recent window</a:t>
            </a:r>
            <a:r>
              <a:rPr sz="837" b="0">
                <a:solidFill>
                  <a:srgbClr val="E0E0E0"/>
                </a:solidFill>
              </a:rPr>
              <a:t> recent = self.buffer.get_recent(self.embedder.window_size * </a:t>
            </a:r>
            <a:r>
              <a:rPr sz="837" b="0">
                <a:solidFill>
                  <a:srgbClr val="F78C6C"/>
                </a:solidFill>
              </a:rPr>
              <a:t>2</a:t>
            </a:r>
            <a:r>
              <a:rPr sz="837" b="0">
                <a:solidFill>
                  <a:srgbClr val="E0E0E0"/>
                </a:solidFill>
              </a:rPr>
              <a:t>) data = np.array([r.values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r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recent]) </a:t>
            </a:r>
            <a:r>
              <a:rPr sz="837" b="0">
                <a:solidFill>
                  <a:srgbClr val="546E7A"/>
                </a:solidFill>
              </a:rPr>
              <a:t># 4. Preprocess</a:t>
            </a:r>
            <a:r>
              <a:rPr sz="837" b="0">
                <a:solidFill>
                  <a:srgbClr val="E0E0E0"/>
                </a:solidFill>
              </a:rPr>
              <a:t> data_clean = self.cleaner.handle_missing(data) data_clean = self.cleaner.remove_outliers(data_clean) data_filtered = self.filter.apply(data_clean) data_normalized = self.normalizer.transform(data_filtered) </a:t>
            </a:r>
            <a:r>
              <a:rPr sz="837" b="0">
                <a:solidFill>
                  <a:srgbClr val="546E7A"/>
                </a:solidFill>
              </a:rPr>
              <a:t># 5. Embed and build manifold</a:t>
            </a:r>
            <a:r>
              <a:rPr sz="837" b="0">
                <a:solidFill>
                  <a:srgbClr val="E0E0E0"/>
                </a:solidFill>
              </a:rPr>
              <a:t> states = self.embedder.embed(data_normalized)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state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states: self.manifold.add_state(state) </a:t>
            </a:r>
            <a:r>
              <a:rPr sz="837" b="0">
                <a:solidFill>
                  <a:srgbClr val="546E7A"/>
                </a:solidFill>
              </a:rPr>
              <a:t># 6. Compute core metrics</a:t>
            </a:r>
            <a:r>
              <a:rPr sz="837" b="0">
                <a:solidFill>
                  <a:srgbClr val="E0E0E0"/>
                </a:solidFill>
              </a:rPr>
              <a:t> metrics = self.core_engine.compute_all(self.manifold) metrics_dict = {k: v.value </a:t>
            </a:r>
            <a:r>
              <a:rPr sz="837" b="0">
                <a:solidFill>
                  <a:srgbClr val="C792EA"/>
                </a:solidFill>
              </a:rPr>
              <a:t>for</a:t>
            </a:r>
            <a:r>
              <a:rPr sz="837" b="0">
                <a:solidFill>
                  <a:srgbClr val="E0E0E0"/>
                </a:solidFill>
              </a:rPr>
              <a:t> k, v </a:t>
            </a:r>
            <a:r>
              <a:rPr sz="837" b="0">
                <a:solidFill>
                  <a:srgbClr val="C792EA"/>
                </a:solidFill>
              </a:rPr>
              <a:t>in</a:t>
            </a:r>
            <a:r>
              <a:rPr sz="837" b="0">
                <a:solidFill>
                  <a:srgbClr val="E0E0E0"/>
                </a:solidFill>
              </a:rPr>
              <a:t> metrics.items()} self.metrics_history.append(metrics_dict) </a:t>
            </a:r>
            <a:r>
              <a:rPr sz="837" b="0">
                <a:solidFill>
                  <a:srgbClr val="546E7A"/>
                </a:solidFill>
              </a:rPr>
              <a:t># 7. Detect anomalies</a:t>
            </a:r>
            <a:r>
              <a:rPr sz="837" b="0">
                <a:solidFill>
                  <a:srgbClr val="E0E0E0"/>
                </a:solidFill>
              </a:rPr>
              <a:t> anomaly_results = self.detector.detect(self.metrics_history) </a:t>
            </a:r>
            <a:r>
              <a:rPr sz="837" b="0">
                <a:solidFill>
                  <a:srgbClr val="546E7A"/>
                </a:solidFill>
              </a:rPr>
              <a:t># 8. Fuse scores</a:t>
            </a:r>
            <a:r>
              <a:rPr sz="837" b="0">
                <a:solidFill>
                  <a:srgbClr val="E0E0E0"/>
                </a:solidFill>
              </a:rPr>
              <a:t> fusion = AnomalyFusion() overall_score = fusion.fuse(metrics_dict) </a:t>
            </a:r>
            <a:r>
              <a:rPr sz="837" b="0">
                <a:solidFill>
                  <a:srgbClr val="546E7A"/>
                </a:solidFill>
              </a:rPr>
              <a:t># 9. Make decision</a:t>
            </a:r>
            <a:r>
              <a:rPr sz="837" b="0">
                <a:solidFill>
                  <a:srgbClr val="E0E0E0"/>
                </a:solidFill>
              </a:rPr>
              <a:t> self.decision_engine.update(overall_score) actions = self.decision_engine.get_actions() </a:t>
            </a:r>
            <a:r>
              <a:rPr sz="837" b="0">
                <a:solidFill>
                  <a:srgbClr val="546E7A"/>
                </a:solidFill>
              </a:rPr>
              <a:t># 10. Execute actions</a:t>
            </a:r>
            <a:r>
              <a:rPr sz="837" b="0">
                <a:solidFill>
                  <a:srgbClr val="E0E0E0"/>
                </a:solidFill>
              </a:rPr>
              <a:t> context = { </a:t>
            </a:r>
            <a:r>
              <a:rPr sz="837" b="0">
                <a:solidFill>
                  <a:srgbClr val="C3E88D"/>
                </a:solidFill>
              </a:rPr>
              <a:t>'reading'</a:t>
            </a:r>
            <a:r>
              <a:rPr sz="837" b="0">
                <a:solidFill>
                  <a:srgbClr val="E0E0E0"/>
                </a:solidFill>
              </a:rPr>
              <a:t>: reading, </a:t>
            </a:r>
            <a:r>
              <a:rPr sz="837" b="0">
                <a:solidFill>
                  <a:srgbClr val="C3E88D"/>
                </a:solidFill>
              </a:rPr>
              <a:t>'metrics'</a:t>
            </a:r>
            <a:r>
              <a:rPr sz="837" b="0">
                <a:solidFill>
                  <a:srgbClr val="E0E0E0"/>
                </a:solidFill>
              </a:rPr>
              <a:t>: metrics_dict, </a:t>
            </a:r>
            <a:r>
              <a:rPr sz="837" b="0">
                <a:solidFill>
                  <a:srgbClr val="C3E88D"/>
                </a:solidFill>
              </a:rPr>
              <a:t>'score'</a:t>
            </a:r>
            <a:r>
              <a:rPr sz="837" b="0">
                <a:solidFill>
                  <a:srgbClr val="E0E0E0"/>
                </a:solidFill>
              </a:rPr>
              <a:t>: overall_score, </a:t>
            </a:r>
            <a:r>
              <a:rPr sz="837" b="0">
                <a:solidFill>
                  <a:srgbClr val="C3E88D"/>
                </a:solidFill>
              </a:rPr>
              <a:t>'state'</a:t>
            </a:r>
            <a:r>
              <a:rPr sz="837" b="0">
                <a:solidFill>
                  <a:srgbClr val="E0E0E0"/>
                </a:solidFill>
              </a:rPr>
              <a:t>: self.decision_engine.state.value } self.action_executor.execute(actions, context) 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38719" y="9877424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6838" y="10115550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System Capabilities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76838" y="10601325"/>
            <a:ext cx="2333566" cy="695325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619709" y="1076324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714957" y="10885113"/>
            <a:ext cx="190495" cy="13727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143571" y="1074420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Real-time Processing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43571" y="10982325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Sub-30ms latency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53276" y="10601325"/>
            <a:ext cx="2333566" cy="695325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096147" y="1076324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191395" y="10868305"/>
            <a:ext cx="190495" cy="17088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620009" y="1074420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Adaptive Learning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20009" y="10982325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Dynamic parameter tuning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76838" y="11439525"/>
            <a:ext cx="2333566" cy="695325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619709" y="116014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714957" y="11702302"/>
            <a:ext cx="190495" cy="17929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143571" y="1158240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Robust Design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43571" y="11820524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Graceful degradation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53276" y="11439525"/>
            <a:ext cx="2333566" cy="695325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096147" y="116014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191395" y="11716310"/>
            <a:ext cx="190495" cy="15127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620009" y="1158240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Lightweight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20009" y="11820524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Edge device compatible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5F"/>
            </a:gs>
            <a:gs pos="100000">
              <a:srgbClr val="0D1F33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2392" b="1">
                <a:solidFill>
                  <a:srgbClr val="FFFFFF"/>
                </a:solidFill>
              </a:rPr>
              <a:t>Performance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404155"/>
            <a:ext cx="342891" cy="23943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6733" y="1047749"/>
            <a:ext cx="5286242" cy="28575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Latency Breakdown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1771650"/>
            <a:ext cx="4810004" cy="20954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6733" y="4095749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4852" y="4333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Memory 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852" y="4819650"/>
            <a:ext cx="2333566" cy="885825"/>
          </a:xfrm>
          <a:prstGeom prst="roundRect">
            <a:avLst>
              <a:gd name="adj" fmla="val 1720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6853" y="4962525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64B5F6"/>
                </a:solidFill>
              </a:rPr>
              <a:t>0.4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3486" y="5391150"/>
            <a:ext cx="108582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Circular Buffer (MB)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1290" y="4819650"/>
            <a:ext cx="2333566" cy="885825"/>
          </a:xfrm>
          <a:prstGeom prst="roundRect">
            <a:avLst>
              <a:gd name="adj" fmla="val 1720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291" y="4962525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64B5F6"/>
                </a:solidFill>
              </a:rPr>
              <a:t>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8023" y="5391150"/>
            <a:ext cx="100009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State Vectors (MB)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852" y="5848350"/>
            <a:ext cx="2333566" cy="885825"/>
          </a:xfrm>
          <a:prstGeom prst="roundRect">
            <a:avLst>
              <a:gd name="adj" fmla="val 1720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66853" y="5991225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64B5F6"/>
                </a:solidFill>
              </a:rPr>
              <a:t>0.5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2080" y="6419850"/>
            <a:ext cx="61910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Graph (MB)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1290" y="5848350"/>
            <a:ext cx="2333566" cy="885825"/>
          </a:xfrm>
          <a:prstGeom prst="roundRect">
            <a:avLst>
              <a:gd name="adj" fmla="val 1720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90915" y="5991225"/>
            <a:ext cx="32384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64B5F6"/>
                </a:solidFill>
              </a:rPr>
              <a:t>~2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67093" y="6419850"/>
            <a:ext cx="561960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Total (MB)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8719" y="1047749"/>
            <a:ext cx="5286242" cy="28575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6838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Processing Time Distribution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76838" y="1771650"/>
            <a:ext cx="4810004" cy="209549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38719" y="4095749"/>
            <a:ext cx="5286242" cy="3533774"/>
          </a:xfrm>
          <a:prstGeom prst="roundRect">
            <a:avLst>
              <a:gd name="adj" fmla="val 646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6838" y="4333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Scalability Characteristics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6838" y="4819650"/>
            <a:ext cx="4810004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19709" y="49625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24481" y="5116581"/>
            <a:ext cx="266693" cy="16813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38819" y="4981574"/>
            <a:ext cx="39051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</a:rPr>
              <a:t>Sensor Scaling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8819" y="5248275"/>
            <a:ext cx="390515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Linear growth with sensors: </a:t>
            </a:r>
            <a:r>
              <a:rPr sz="837" b="1">
                <a:solidFill>
                  <a:srgbClr val="64B5F6"/>
                </a:solidFill>
              </a:rPr>
              <a:t>O(m)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6838" y="5724524"/>
            <a:ext cx="4810004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19709" y="586739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24481" y="6001164"/>
            <a:ext cx="266693" cy="20872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238819" y="5886450"/>
            <a:ext cx="39051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</a:rPr>
              <a:t>Manifold Size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8819" y="6153149"/>
            <a:ext cx="390515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Omega complexity: </a:t>
            </a:r>
            <a:r>
              <a:rPr sz="837" b="1">
                <a:solidFill>
                  <a:srgbClr val="64B5F6"/>
                </a:solidFill>
              </a:rPr>
              <a:t>O(n²) to O(n³)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76838" y="6629400"/>
            <a:ext cx="4810004" cy="761999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19709" y="67722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724481" y="6897342"/>
            <a:ext cx="266693" cy="22611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238819" y="6791325"/>
            <a:ext cx="390515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38819" y="7058025"/>
            <a:ext cx="3905152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Keep n ≤ 256 for real-time, use sparse eigensolvers for larger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5F"/>
            </a:gs>
            <a:gs pos="100000">
              <a:srgbClr val="0D1F33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2392" b="1">
                <a:solidFill>
                  <a:srgbClr val="FFFFFF"/>
                </a:solidFill>
              </a:rPr>
              <a:t>Error Handling &amp; Robustness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64249"/>
            <a:ext cx="342891" cy="31925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6733" y="1047749"/>
            <a:ext cx="5286242" cy="28575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Graceful Degradation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852" y="1914525"/>
            <a:ext cx="1142971" cy="11430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323941" y="2217859"/>
            <a:ext cx="304792" cy="2696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4872" y="2581275"/>
            <a:ext cx="7524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Full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131" y="1914525"/>
            <a:ext cx="1142971" cy="11430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162220" y="2229582"/>
            <a:ext cx="304792" cy="246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279" y="2581275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Partial Fallback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1885" y="1914525"/>
            <a:ext cx="1142971" cy="1143000"/>
          </a:xfrm>
          <a:prstGeom prst="roundRect">
            <a:avLst>
              <a:gd name="adj" fmla="val 50000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990975" y="2223721"/>
            <a:ext cx="304792" cy="2579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14757" y="2581275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Minimal 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4095749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852" y="4333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System Health Monitoring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852" y="4819650"/>
            <a:ext cx="2333566" cy="885825"/>
          </a:xfrm>
          <a:prstGeom prst="roundRect">
            <a:avLst>
              <a:gd name="adj" fmla="val 1720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57308" y="4962525"/>
            <a:ext cx="83817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64B5F6"/>
                </a:solidFill>
              </a:rPr>
              <a:t>99.9%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853" y="5391150"/>
            <a:ext cx="409564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Uptime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1290" y="4819650"/>
            <a:ext cx="2333566" cy="885825"/>
          </a:xfrm>
          <a:prstGeom prst="roundRect">
            <a:avLst>
              <a:gd name="adj" fmla="val 1720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6142" y="4962525"/>
            <a:ext cx="51433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64B5F6"/>
                </a:solidFill>
              </a:rPr>
              <a:t>&lt; 1s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3271" y="5391150"/>
            <a:ext cx="819129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Recovery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852" y="5848350"/>
            <a:ext cx="2333566" cy="885825"/>
          </a:xfrm>
          <a:prstGeom prst="roundRect">
            <a:avLst>
              <a:gd name="adj" fmla="val 1720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57308" y="5991225"/>
            <a:ext cx="83817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64B5F6"/>
                </a:solidFill>
              </a:rPr>
              <a:t>0.01%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0655" y="6419850"/>
            <a:ext cx="552436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Error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1290" y="5848350"/>
            <a:ext cx="2333566" cy="885825"/>
          </a:xfrm>
          <a:prstGeom prst="roundRect">
            <a:avLst>
              <a:gd name="adj" fmla="val 1720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1845" y="5991225"/>
            <a:ext cx="74293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913" b="1">
                <a:solidFill>
                  <a:srgbClr val="64B5F6"/>
                </a:solidFill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6122" y="6419850"/>
            <a:ext cx="92390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Fail-safe Success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8719" y="1047749"/>
            <a:ext cx="5286242" cy="5238749"/>
          </a:xfrm>
          <a:prstGeom prst="roundRect">
            <a:avLst>
              <a:gd name="adj" fmla="val 4363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76838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48283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19729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29274" y="1285875"/>
            <a:ext cx="2162120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0CAF9"/>
                </a:solidFill>
              </a:rPr>
              <a:t>robust_monitoring_system.py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6838" y="1647825"/>
            <a:ext cx="4810004" cy="43814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FFCB6B"/>
                </a:solidFill>
              </a:rPr>
              <a:t>RobustMonitoringSystem</a:t>
            </a:r>
            <a:r>
              <a:rPr sz="837" b="0">
                <a:solidFill>
                  <a:srgbClr val="E0E0E0"/>
                </a:solidFill>
              </a:rPr>
              <a:t>(GeometricMonitoringSystem):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process_reading</a:t>
            </a:r>
            <a:r>
              <a:rPr sz="837" b="0">
                <a:solidFill>
                  <a:srgbClr val="E0E0E0"/>
                </a:solidFill>
              </a:rPr>
              <a:t>(self, reading: SensorReading): </a:t>
            </a:r>
            <a:r>
              <a:rPr sz="837" b="0">
                <a:solidFill>
                  <a:srgbClr val="C792EA"/>
                </a:solidFill>
              </a:rPr>
              <a:t>try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546E7A"/>
                </a:solidFill>
              </a:rPr>
              <a:t># Normal processing path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super</a:t>
            </a:r>
            <a:r>
              <a:rPr sz="837" b="0">
                <a:solidFill>
                  <a:srgbClr val="E0E0E0"/>
                </a:solidFill>
              </a:rPr>
              <a:t>().process_reading(reading) </a:t>
            </a:r>
            <a:r>
              <a:rPr sz="837" b="0">
                <a:solidFill>
                  <a:srgbClr val="C792EA"/>
                </a:solidFill>
              </a:rPr>
              <a:t>except</a:t>
            </a:r>
            <a:r>
              <a:rPr sz="837" b="0">
                <a:solidFill>
                  <a:srgbClr val="E0E0E0"/>
                </a:solidFill>
              </a:rPr>
              <a:t> ValueError </a:t>
            </a:r>
            <a:r>
              <a:rPr sz="837" b="0">
                <a:solidFill>
                  <a:srgbClr val="C792EA"/>
                </a:solidFill>
              </a:rPr>
              <a:t>as</a:t>
            </a:r>
            <a:r>
              <a:rPr sz="837" b="0">
                <a:solidFill>
                  <a:srgbClr val="E0E0E0"/>
                </a:solidFill>
              </a:rPr>
              <a:t> e: </a:t>
            </a:r>
            <a:r>
              <a:rPr sz="837" b="0">
                <a:solidFill>
                  <a:srgbClr val="546E7A"/>
                </a:solidFill>
              </a:rPr>
              <a:t># Data quality issue</a:t>
            </a:r>
            <a:r>
              <a:rPr sz="837" b="0">
                <a:solidFill>
                  <a:srgbClr val="E0E0E0"/>
                </a:solidFill>
              </a:rPr>
              <a:t> self.logger.warning(</a:t>
            </a:r>
            <a:r>
              <a:rPr sz="837" b="0">
                <a:solidFill>
                  <a:srgbClr val="C3E88D"/>
                </a:solidFill>
              </a:rPr>
              <a:t>f"Data quality error: {e}"</a:t>
            </a:r>
            <a:r>
              <a:rPr sz="837" b="0">
                <a:solidFill>
                  <a:srgbClr val="E0E0E0"/>
                </a:solidFill>
              </a:rPr>
              <a:t>) self.action_executor.log({</a:t>
            </a:r>
            <a:r>
              <a:rPr sz="837" b="0">
                <a:solidFill>
                  <a:srgbClr val="C3E88D"/>
                </a:solidFill>
              </a:rPr>
              <a:t>'error'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82AAFF"/>
                </a:solidFill>
              </a:rPr>
              <a:t>str</a:t>
            </a:r>
            <a:r>
              <a:rPr sz="837" b="0">
                <a:solidFill>
                  <a:srgbClr val="E0E0E0"/>
                </a:solidFill>
              </a:rPr>
              <a:t>(e), </a:t>
            </a:r>
            <a:r>
              <a:rPr sz="837" b="0">
                <a:solidFill>
                  <a:srgbClr val="C3E88D"/>
                </a:solidFill>
              </a:rPr>
              <a:t>'reading'</a:t>
            </a:r>
            <a:r>
              <a:rPr sz="837" b="0">
                <a:solidFill>
                  <a:srgbClr val="E0E0E0"/>
                </a:solidFill>
              </a:rPr>
              <a:t>: reading}) </a:t>
            </a:r>
            <a:r>
              <a:rPr sz="837" b="0">
                <a:solidFill>
                  <a:srgbClr val="C792EA"/>
                </a:solidFill>
              </a:rPr>
              <a:t>except</a:t>
            </a:r>
            <a:r>
              <a:rPr sz="837" b="0">
                <a:solidFill>
                  <a:srgbClr val="E0E0E0"/>
                </a:solidFill>
              </a:rPr>
              <a:t> np.linalg.LinAlgError: </a:t>
            </a:r>
            <a:r>
              <a:rPr sz="837" b="0">
                <a:solidFill>
                  <a:srgbClr val="546E7A"/>
                </a:solidFill>
              </a:rPr>
              <a:t># Numerical instability in eigendecomposition</a:t>
            </a:r>
            <a:r>
              <a:rPr sz="837" b="0">
                <a:solidFill>
                  <a:srgbClr val="E0E0E0"/>
                </a:solidFill>
              </a:rPr>
              <a:t> self.logger.error(</a:t>
            </a:r>
            <a:r>
              <a:rPr sz="837" b="0">
                <a:solidFill>
                  <a:srgbClr val="C3E88D"/>
                </a:solidFill>
              </a:rPr>
              <a:t>"Numerical error in core metrics"</a:t>
            </a:r>
            <a:r>
              <a:rPr sz="837" b="0">
                <a:solidFill>
                  <a:srgbClr val="E0E0E0"/>
                </a:solidFill>
              </a:rPr>
              <a:t>) </a:t>
            </a:r>
            <a:r>
              <a:rPr sz="837" b="0">
                <a:solidFill>
                  <a:srgbClr val="546E7A"/>
                </a:solidFill>
              </a:rPr>
              <a:t># Fall back to simpler metrics</a:t>
            </a:r>
            <a:r>
              <a:rPr sz="837" b="0">
                <a:solidFill>
                  <a:srgbClr val="E0E0E0"/>
                </a:solidFill>
              </a:rPr>
              <a:t> self.use_fallback_metrics() </a:t>
            </a:r>
            <a:r>
              <a:rPr sz="837" b="0">
                <a:solidFill>
                  <a:srgbClr val="C792EA"/>
                </a:solidFill>
              </a:rPr>
              <a:t>except</a:t>
            </a:r>
            <a:r>
              <a:rPr sz="837" b="0">
                <a:solidFill>
                  <a:srgbClr val="E0E0E0"/>
                </a:solidFill>
              </a:rPr>
              <a:t> Exception </a:t>
            </a:r>
            <a:r>
              <a:rPr sz="837" b="0">
                <a:solidFill>
                  <a:srgbClr val="C792EA"/>
                </a:solidFill>
              </a:rPr>
              <a:t>as</a:t>
            </a:r>
            <a:r>
              <a:rPr sz="837" b="0">
                <a:solidFill>
                  <a:srgbClr val="E0E0E0"/>
                </a:solidFill>
              </a:rPr>
              <a:t> e: </a:t>
            </a:r>
            <a:r>
              <a:rPr sz="837" b="0">
                <a:solidFill>
                  <a:srgbClr val="546E7A"/>
                </a:solidFill>
              </a:rPr>
              <a:t># Unexpected error</a:t>
            </a:r>
            <a:r>
              <a:rPr sz="837" b="0">
                <a:solidFill>
                  <a:srgbClr val="E0E0E0"/>
                </a:solidFill>
              </a:rPr>
              <a:t> self.logger.critical(</a:t>
            </a:r>
            <a:r>
              <a:rPr sz="837" b="0">
                <a:solidFill>
                  <a:srgbClr val="C3E88D"/>
                </a:solidFill>
              </a:rPr>
              <a:t>f"Unexpected error: {e}"</a:t>
            </a:r>
            <a:r>
              <a:rPr sz="837" b="0">
                <a:solidFill>
                  <a:srgbClr val="E0E0E0"/>
                </a:solidFill>
              </a:rPr>
              <a:t>) self.trigger_failsafe()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use_fallback_metrics</a:t>
            </a:r>
            <a:r>
              <a:rPr sz="837" b="0">
                <a:solidFill>
                  <a:srgbClr val="E0E0E0"/>
                </a:solidFill>
              </a:rPr>
              <a:t>(self): </a:t>
            </a:r>
            <a:r>
              <a:rPr sz="837" b="0">
                <a:solidFill>
                  <a:srgbClr val="546E7A"/>
                </a:solidFill>
              </a:rPr>
              <a:t># Use only φ and β (fast, stable)</a:t>
            </a:r>
            <a:r>
              <a:rPr sz="837" b="0">
                <a:solidFill>
                  <a:srgbClr val="E0E0E0"/>
                </a:solidFill>
              </a:rPr>
              <a:t> metrics = { </a:t>
            </a:r>
            <a:r>
              <a:rPr sz="837" b="0">
                <a:solidFill>
                  <a:srgbClr val="C3E88D"/>
                </a:solidFill>
              </a:rPr>
              <a:t>'phi'</a:t>
            </a:r>
            <a:r>
              <a:rPr sz="837" b="0">
                <a:solidFill>
                  <a:srgbClr val="E0E0E0"/>
                </a:solidFill>
              </a:rPr>
              <a:t>: self.core_engine.phi_core(self.manifold).value, </a:t>
            </a:r>
            <a:r>
              <a:rPr sz="837" b="0">
                <a:solidFill>
                  <a:srgbClr val="C3E88D"/>
                </a:solidFill>
              </a:rPr>
              <a:t>'beta'</a:t>
            </a:r>
            <a:r>
              <a:rPr sz="837" b="0">
                <a:solidFill>
                  <a:srgbClr val="E0E0E0"/>
                </a:solidFill>
              </a:rPr>
              <a:t>: self.core_engine.beta_core(self.manifold).value } </a:t>
            </a:r>
            <a:r>
              <a:rPr sz="837" b="0">
                <a:solidFill>
                  <a:srgbClr val="546E7A"/>
                </a:solidFill>
              </a:rPr>
              <a:t># Continue with reduced metrics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FFCB6B"/>
                </a:solidFill>
              </a:rPr>
              <a:t>SystemHealthMonitor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82AAFF"/>
                </a:solidFill>
              </a:rPr>
              <a:t>check_health</a:t>
            </a:r>
            <a:r>
              <a:rPr sz="837" b="0">
                <a:solidFill>
                  <a:srgbClr val="E0E0E0"/>
                </a:solidFill>
              </a:rPr>
              <a:t>(self) -&gt; </a:t>
            </a:r>
            <a:r>
              <a:rPr sz="837" b="0">
                <a:solidFill>
                  <a:srgbClr val="FFCB6B"/>
                </a:solidFill>
              </a:rPr>
              <a:t>dict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546E7A"/>
                </a:solidFill>
              </a:rPr>
              <a:t># Check system health metrics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return</a:t>
            </a:r>
            <a:r>
              <a:rPr sz="837" b="0">
                <a:solidFill>
                  <a:srgbClr val="E0E0E0"/>
                </a:solidFill>
              </a:rPr>
              <a:t> { </a:t>
            </a:r>
            <a:r>
              <a:rPr sz="837" b="0">
                <a:solidFill>
                  <a:srgbClr val="C3E88D"/>
                </a:solidFill>
              </a:rPr>
              <a:t>'avg_latency'</a:t>
            </a:r>
            <a:r>
              <a:rPr sz="837" b="0">
                <a:solidFill>
                  <a:srgbClr val="E0E0E0"/>
                </a:solidFill>
              </a:rPr>
              <a:t>: np.mean(self.latencies), </a:t>
            </a:r>
            <a:r>
              <a:rPr sz="837" b="0">
                <a:solidFill>
                  <a:srgbClr val="C3E88D"/>
                </a:solidFill>
              </a:rPr>
              <a:t>'max_latency'</a:t>
            </a:r>
            <a:r>
              <a:rPr sz="837" b="0">
                <a:solidFill>
                  <a:srgbClr val="E0E0E0"/>
                </a:solidFill>
              </a:rPr>
              <a:t>: np.</a:t>
            </a:r>
            <a:r>
              <a:rPr sz="837" b="0">
                <a:solidFill>
                  <a:srgbClr val="82AAFF"/>
                </a:solidFill>
              </a:rPr>
              <a:t>max</a:t>
            </a:r>
            <a:r>
              <a:rPr sz="837" b="0">
                <a:solidFill>
                  <a:srgbClr val="E0E0E0"/>
                </a:solidFill>
              </a:rPr>
              <a:t>(self.latencies), </a:t>
            </a:r>
            <a:r>
              <a:rPr sz="837" b="0">
                <a:solidFill>
                  <a:srgbClr val="C3E88D"/>
                </a:solidFill>
              </a:rPr>
              <a:t>'latency_99th'</a:t>
            </a:r>
            <a:r>
              <a:rPr sz="837" b="0">
                <a:solidFill>
                  <a:srgbClr val="E0E0E0"/>
                </a:solidFill>
              </a:rPr>
              <a:t>: np.percentile(self.latencies, </a:t>
            </a:r>
            <a:r>
              <a:rPr sz="837" b="0">
                <a:solidFill>
                  <a:srgbClr val="F78C6C"/>
                </a:solidFill>
              </a:rPr>
              <a:t>99</a:t>
            </a:r>
            <a:r>
              <a:rPr sz="837" b="0">
                <a:solidFill>
                  <a:srgbClr val="E0E0E0"/>
                </a:solidFill>
              </a:rPr>
              <a:t>), </a:t>
            </a:r>
            <a:r>
              <a:rPr sz="837" b="0">
                <a:solidFill>
                  <a:srgbClr val="C3E88D"/>
                </a:solidFill>
              </a:rPr>
              <a:t>'error_rate'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82AAFF"/>
                </a:solidFill>
              </a:rPr>
              <a:t>sum</a:t>
            </a:r>
            <a:r>
              <a:rPr sz="837" b="0">
                <a:solidFill>
                  <a:srgbClr val="E0E0E0"/>
                </a:solidFill>
              </a:rPr>
              <a:t>(self.error_counts.values()) / </a:t>
            </a:r>
            <a:r>
              <a:rPr sz="837" b="0">
                <a:solidFill>
                  <a:srgbClr val="82AAFF"/>
                </a:solidFill>
              </a:rPr>
              <a:t>len</a:t>
            </a:r>
            <a:r>
              <a:rPr sz="837" b="0">
                <a:solidFill>
                  <a:srgbClr val="E0E0E0"/>
                </a:solidFill>
              </a:rPr>
              <a:t>(self.latencies) }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8719" y="6477000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6838" y="671512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Fault Tolerance Features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76838" y="7200900"/>
            <a:ext cx="2333566" cy="695325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19709" y="73532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714957" y="7454152"/>
            <a:ext cx="190495" cy="17929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143571" y="7343775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Automatic 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43571" y="7581899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Self-healing mechanisms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3276" y="7200900"/>
            <a:ext cx="2333566" cy="695325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96147" y="73532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91395" y="7473763"/>
            <a:ext cx="190495" cy="140073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620009" y="7343775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Fallback Metrics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20009" y="7581899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Reduced but functional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76838" y="8039099"/>
            <a:ext cx="2333566" cy="866775"/>
          </a:xfrm>
          <a:prstGeom prst="roundRect">
            <a:avLst>
              <a:gd name="adj" fmla="val 1758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619709" y="8286750"/>
            <a:ext cx="371465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705432" y="8387602"/>
            <a:ext cx="190495" cy="17929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134046" y="8181974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Fail-safe Mode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4046" y="8420099"/>
            <a:ext cx="1533486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Emergency response system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53276" y="8039099"/>
            <a:ext cx="2333566" cy="866775"/>
          </a:xfrm>
          <a:prstGeom prst="roundRect">
            <a:avLst>
              <a:gd name="adj" fmla="val 1758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096147" y="82867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191395" y="8407213"/>
            <a:ext cx="190495" cy="14007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620009" y="8267699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Health Monitoring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20009" y="8505824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Continuous system checks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5F"/>
            </a:gs>
            <a:gs pos="100000">
              <a:srgbClr val="0D1F33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2392" b="1">
                <a:solidFill>
                  <a:srgbClr val="FFFFFF"/>
                </a:solidFill>
              </a:rPr>
              <a:t>Configuration &amp; Tuning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79029"/>
            <a:ext cx="342891" cy="28969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6733" y="1047749"/>
            <a:ext cx="5286242" cy="2857500"/>
          </a:xfrm>
          <a:prstGeom prst="roundRect">
            <a:avLst>
              <a:gd name="adj" fmla="val 800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285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Configuration 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4852" y="1771650"/>
            <a:ext cx="4810004" cy="2438400"/>
          </a:xfrm>
          <a:prstGeom prst="roundRect">
            <a:avLst>
              <a:gd name="adj" fmla="val 9375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2971" y="20574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14417" y="20574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85862" y="20574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5407" y="2009774"/>
            <a:ext cx="828654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0CAF9"/>
                </a:solidFill>
              </a:rPr>
              <a:t>config.yaml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2971" y="2371725"/>
            <a:ext cx="4333766" cy="1600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546E7A"/>
                </a:solidFill>
              </a:rPr>
              <a:t># System Configuration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buffer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max_size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10000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preprocessing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max_missing_pct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0.05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outlier_sigma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5.0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filter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sampling_rate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1.0</a:t>
            </a:r>
            <a:r>
              <a:rPr sz="837" b="0">
                <a:solidFill>
                  <a:srgbClr val="E0E0E0"/>
                </a:solidFill>
              </a:rPr>
              <a:t>  </a:t>
            </a:r>
            <a:r>
              <a:rPr sz="837" b="0">
                <a:solidFill>
                  <a:srgbClr val="546E7A"/>
                </a:solidFill>
              </a:rPr>
              <a:t># Hz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low_cutoff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0.001</a:t>
            </a:r>
            <a:r>
              <a:rPr sz="837" b="0">
                <a:solidFill>
                  <a:srgbClr val="E0E0E0"/>
                </a:solidFill>
              </a:rPr>
              <a:t>   </a:t>
            </a:r>
            <a:r>
              <a:rPr sz="837" b="0">
                <a:solidFill>
                  <a:srgbClr val="546E7A"/>
                </a:solidFill>
              </a:rPr>
              <a:t># Hz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high_cutoff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0.1</a:t>
            </a:r>
            <a:r>
              <a:rPr sz="837" b="0">
                <a:solidFill>
                  <a:srgbClr val="E0E0E0"/>
                </a:solidFill>
              </a:rPr>
              <a:t>    </a:t>
            </a:r>
            <a:r>
              <a:rPr sz="837" b="0">
                <a:solidFill>
                  <a:srgbClr val="546E7A"/>
                </a:solidFill>
              </a:rPr>
              <a:t># Hz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embedding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window_size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50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stride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1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manifold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max_states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128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k_neighbors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4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detection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windows</a:t>
            </a:r>
            <a:r>
              <a:rPr sz="837" b="0">
                <a:solidFill>
                  <a:srgbClr val="E0E0E0"/>
                </a:solidFill>
              </a:rPr>
              <a:t>: [</a:t>
            </a:r>
            <a:r>
              <a:rPr sz="837" b="0">
                <a:solidFill>
                  <a:srgbClr val="F78C6C"/>
                </a:solidFill>
              </a:rPr>
              <a:t>10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F78C6C"/>
                </a:solidFill>
              </a:rPr>
              <a:t>50</a:t>
            </a:r>
            <a:r>
              <a:rPr sz="837" b="0">
                <a:solidFill>
                  <a:srgbClr val="E0E0E0"/>
                </a:solidFill>
              </a:rPr>
              <a:t>, </a:t>
            </a:r>
            <a:r>
              <a:rPr sz="837" b="0">
                <a:solidFill>
                  <a:srgbClr val="F78C6C"/>
                </a:solidFill>
              </a:rPr>
              <a:t>200</a:t>
            </a:r>
            <a:r>
              <a:rPr sz="837" b="0">
                <a:solidFill>
                  <a:srgbClr val="E0E0E0"/>
                </a:solidFill>
              </a:rPr>
              <a:t>] </a:t>
            </a:r>
            <a:r>
              <a:rPr sz="837" b="0">
                <a:solidFill>
                  <a:srgbClr val="C792EA"/>
                </a:solidFill>
              </a:rPr>
              <a:t>thresholds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normal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0.3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warning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0.6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critical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0.8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fusion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weights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C792EA"/>
                </a:solidFill>
              </a:rPr>
              <a:t>pi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0.3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phi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0.3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omega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0.2</a:t>
            </a: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beta</a:t>
            </a:r>
            <a:r>
              <a:rPr sz="837" b="0">
                <a:solidFill>
                  <a:srgbClr val="E0E0E0"/>
                </a:solidFill>
              </a:rPr>
              <a:t>: </a:t>
            </a:r>
            <a:r>
              <a:rPr sz="837" b="0">
                <a:solidFill>
                  <a:srgbClr val="F78C6C"/>
                </a:solidFill>
              </a:rPr>
              <a:t>0.2</a:t>
            </a:r>
            <a:r>
              <a:rPr sz="837" b="0">
                <a:solidFill>
                  <a:srgbClr val="E0E0E0"/>
                </a:solidFill>
              </a:rPr>
              <a:t>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095749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852" y="43338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Parameter Tuning Guidelines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852" y="4819650"/>
            <a:ext cx="2333566" cy="1352549"/>
          </a:xfrm>
          <a:prstGeom prst="roundRect">
            <a:avLst>
              <a:gd name="adj" fmla="val 1126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7723" y="4962525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23921" y="5063938"/>
            <a:ext cx="190495" cy="1400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04912" y="5029200"/>
            <a:ext cx="933426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Window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4912" y="5400675"/>
            <a:ext cx="1590635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2-3× longest relevant timescale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4912" y="5791200"/>
            <a:ext cx="159063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1196" b="1">
                <a:solidFill>
                  <a:srgbClr val="64B5F6"/>
                </a:solidFill>
              </a:rPr>
              <a:t>50-200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1290" y="4819650"/>
            <a:ext cx="2333566" cy="1352549"/>
          </a:xfrm>
          <a:prstGeom prst="roundRect">
            <a:avLst>
              <a:gd name="adj" fmla="val 1126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24161" y="4962525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600359" y="5041526"/>
            <a:ext cx="190495" cy="18489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981350" y="5029200"/>
            <a:ext cx="88580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k-Neighbors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81350" y="5400675"/>
            <a:ext cx="1590635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Balance connectivity vs. local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1350" y="5791200"/>
            <a:ext cx="159063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1196" b="1">
                <a:solidFill>
                  <a:srgbClr val="64B5F6"/>
                </a:solidFill>
              </a:rPr>
              <a:t>4-8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852" y="6315075"/>
            <a:ext cx="2333566" cy="1590675"/>
          </a:xfrm>
          <a:prstGeom prst="roundRect">
            <a:avLst>
              <a:gd name="adj" fmla="val 958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47723" y="645795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23921" y="6553760"/>
            <a:ext cx="190495" cy="15127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504912" y="6515100"/>
            <a:ext cx="81912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Thresholds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4912" y="6896099"/>
            <a:ext cx="1590635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95th percentile of normal operation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4912" y="7286625"/>
            <a:ext cx="159063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1196" b="1">
                <a:solidFill>
                  <a:srgbClr val="64B5F6"/>
                </a:solidFill>
              </a:rPr>
              <a:t>0.3/0.6/0.8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1290" y="6315075"/>
            <a:ext cx="2333566" cy="1590675"/>
          </a:xfrm>
          <a:prstGeom prst="roundRect">
            <a:avLst>
              <a:gd name="adj" fmla="val 9580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524161" y="6457950"/>
            <a:ext cx="342891" cy="342900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600359" y="6550958"/>
            <a:ext cx="190495" cy="15688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981350" y="6515100"/>
            <a:ext cx="1114397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Fusion Weights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81350" y="6896099"/>
            <a:ext cx="1590635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Balance sensitivity vs. specificity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81350" y="7286625"/>
            <a:ext cx="1590635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325"/>
              </a:spcBef>
              <a:spcAft>
                <a:spcPts val="0"/>
              </a:spcAft>
            </a:pPr>
            <a:r>
              <a:rPr sz="1196" b="1">
                <a:solidFill>
                  <a:srgbClr val="64B5F6"/>
                </a:solidFill>
              </a:rPr>
              <a:t>π:0.3 φ:0.3 Ω:0.2 β:0.2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8719" y="1047749"/>
            <a:ext cx="5286242" cy="4838699"/>
          </a:xfrm>
          <a:prstGeom prst="roundRect">
            <a:avLst>
              <a:gd name="adj" fmla="val 4724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76838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48283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19729" y="1333500"/>
            <a:ext cx="114297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29274" y="1285875"/>
            <a:ext cx="139061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0CAF9"/>
                </a:solidFill>
              </a:rPr>
              <a:t>adaptive_tuning.py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6838" y="1647825"/>
            <a:ext cx="4810004" cy="3981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0E0E0"/>
                </a:solidFill>
              </a:rPr>
              <a:t>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AdaptiveGraphBuilder: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select_k(self, states: np.ndarray) -&gt; int: </a:t>
            </a:r>
            <a:r>
              <a:rPr sz="837" b="0">
                <a:solidFill>
                  <a:srgbClr val="546E7A"/>
                </a:solidFill>
              </a:rPr>
              <a:t># Automatically select k based on data density</a:t>
            </a:r>
            <a:r>
              <a:rPr sz="837" b="0">
                <a:solidFill>
                  <a:srgbClr val="E0E0E0"/>
                </a:solidFill>
              </a:rPr>
              <a:t> nbrs = NearestNeighbors(n_neighbors=self.max_k+1) nbrs.fit(states) distances, _ = nbrs.kneighbors(states) </a:t>
            </a:r>
            <a:r>
              <a:rPr sz="837" b="0">
                <a:solidFill>
                  <a:srgbClr val="546E7A"/>
                </a:solidFill>
              </a:rPr>
              <a:t># Average distance to k-th neighbor</a:t>
            </a:r>
            <a:r>
              <a:rPr sz="837" b="0">
                <a:solidFill>
                  <a:srgbClr val="E0E0E0"/>
                </a:solidFill>
              </a:rPr>
              <a:t> avg_distances = np.mean(distances[:, 1:], axis=0) </a:t>
            </a:r>
            <a:r>
              <a:rPr sz="837" b="0">
                <a:solidFill>
                  <a:srgbClr val="546E7A"/>
                </a:solidFill>
              </a:rPr>
              <a:t># Find elbow (maximum curvature)</a:t>
            </a:r>
            <a:r>
              <a:rPr sz="837" b="0">
                <a:solidFill>
                  <a:srgbClr val="E0E0E0"/>
                </a:solidFill>
              </a:rPr>
              <a:t> curvatures = np.diff(np.diff(avg_distances)) elbow = np.argmax(curvatures) + 1 k = np.clip(elbow, self.min_k, self.max_k) return k </a:t>
            </a:r>
            <a:r>
              <a:rPr sz="837" b="0">
                <a:solidFill>
                  <a:srgbClr val="C792EA"/>
                </a:solidFill>
              </a:rPr>
              <a:t>class</a:t>
            </a:r>
            <a:r>
              <a:rPr sz="837" b="0">
                <a:solidFill>
                  <a:srgbClr val="E0E0E0"/>
                </a:solidFill>
              </a:rPr>
              <a:t> ProgressiveCoreMetrics: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compute_fast(self, manifold: SubstrateManifold): </a:t>
            </a:r>
            <a:r>
              <a:rPr sz="837" b="0">
                <a:solidFill>
                  <a:srgbClr val="546E7A"/>
                </a:solidFill>
              </a:rPr>
              <a:t># Fast approximate metrics for real-time</a:t>
            </a:r>
            <a:r>
              <a:rPr sz="837" b="0">
                <a:solidFill>
                  <a:srgbClr val="E0E0E0"/>
                </a:solidFill>
              </a:rPr>
              <a:t> return { </a:t>
            </a:r>
            <a:r>
              <a:rPr sz="837" b="0">
                <a:solidFill>
                  <a:srgbClr val="C3E88D"/>
                </a:solidFill>
              </a:rPr>
              <a:t>'pi'</a:t>
            </a:r>
            <a:r>
              <a:rPr sz="837" b="0">
                <a:solidFill>
                  <a:srgbClr val="E0E0E0"/>
                </a:solidFill>
              </a:rPr>
              <a:t>: self.pi_fast(manifold), </a:t>
            </a:r>
            <a:r>
              <a:rPr sz="837" b="0">
                <a:solidFill>
                  <a:srgbClr val="C3E88D"/>
                </a:solidFill>
              </a:rPr>
              <a:t>'phi'</a:t>
            </a:r>
            <a:r>
              <a:rPr sz="837" b="0">
                <a:solidFill>
                  <a:srgbClr val="E0E0E0"/>
                </a:solidFill>
              </a:rPr>
              <a:t>: self.phi_core(manifold).value, </a:t>
            </a:r>
            <a:r>
              <a:rPr sz="837" b="0">
                <a:solidFill>
                  <a:srgbClr val="C3E88D"/>
                </a:solidFill>
              </a:rPr>
              <a:t>'omega'</a:t>
            </a:r>
            <a:r>
              <a:rPr sz="837" b="0">
                <a:solidFill>
                  <a:srgbClr val="E0E0E0"/>
                </a:solidFill>
              </a:rPr>
              <a:t>: self.omega_fast(manifold), </a:t>
            </a:r>
            <a:r>
              <a:rPr sz="837" b="0">
                <a:solidFill>
                  <a:srgbClr val="C3E88D"/>
                </a:solidFill>
              </a:rPr>
              <a:t>'beta'</a:t>
            </a:r>
            <a:r>
              <a:rPr sz="837" b="0">
                <a:solidFill>
                  <a:srgbClr val="E0E0E0"/>
                </a:solidFill>
              </a:rPr>
              <a:t>: self.beta_core(manifold).value } </a:t>
            </a:r>
            <a:r>
              <a:rPr sz="837" b="0">
                <a:solidFill>
                  <a:srgbClr val="C792EA"/>
                </a:solidFill>
              </a:rPr>
              <a:t>def</a:t>
            </a:r>
            <a:r>
              <a:rPr sz="837" b="0">
                <a:solidFill>
                  <a:srgbClr val="E0E0E0"/>
                </a:solidFill>
              </a:rPr>
              <a:t> omega_fast(self, manifold): </a:t>
            </a:r>
            <a:r>
              <a:rPr sz="837" b="0">
                <a:solidFill>
                  <a:srgbClr val="546E7A"/>
                </a:solidFill>
              </a:rPr>
              <a:t># Stochastic trace estimation</a:t>
            </a:r>
            <a:r>
              <a:rPr sz="837" b="0">
                <a:solidFill>
                  <a:srgbClr val="E0E0E0"/>
                </a:solidFill>
              </a:rPr>
              <a:t> L = nx.laplacian_matrix(manifold.G) trace_L2 = 0 for _ in range(10):  </a:t>
            </a:r>
            <a:r>
              <a:rPr sz="837" b="0">
                <a:solidFill>
                  <a:srgbClr val="546E7A"/>
                </a:solidFill>
              </a:rPr>
              <a:t># 10 random samples</a:t>
            </a:r>
            <a:r>
              <a:rPr sz="837" b="0">
                <a:solidFill>
                  <a:srgbClr val="E0E0E0"/>
                </a:solidFill>
              </a:rPr>
              <a:t> v = np.random.randn(L.shape[0]) v = v / np.linalg.norm(v) trace_L2 += v @ (L @ (L @ v)) return trace_L2 / 10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8719" y="6076950"/>
            <a:ext cx="5286242" cy="2095499"/>
          </a:xfrm>
          <a:prstGeom prst="roundRect">
            <a:avLst>
              <a:gd name="adj" fmla="val 10909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6838" y="6315075"/>
            <a:ext cx="481000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64B5F6"/>
                </a:solidFill>
              </a:rPr>
              <a:t>Configuration Benefits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76838" y="6800850"/>
            <a:ext cx="2333566" cy="866775"/>
          </a:xfrm>
          <a:prstGeom prst="roundRect">
            <a:avLst>
              <a:gd name="adj" fmla="val 1758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619709" y="7048500"/>
            <a:ext cx="342891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95907" y="7153555"/>
            <a:ext cx="190495" cy="17088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105472" y="6943725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Adaptive Algorithms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05472" y="7181849"/>
            <a:ext cx="1562060" cy="342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Dynamic parameter adjustment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53276" y="6800850"/>
            <a:ext cx="2333566" cy="866775"/>
          </a:xfrm>
          <a:prstGeom prst="roundRect">
            <a:avLst>
              <a:gd name="adj" fmla="val 17582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096147" y="70485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191395" y="7170363"/>
            <a:ext cx="190495" cy="13727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620009" y="702945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Performance Modes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20009" y="7267574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Fast vs. Accurate trade-offs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76838" y="7810499"/>
            <a:ext cx="2333566" cy="695325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619709" y="79628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714957" y="8077760"/>
            <a:ext cx="190495" cy="15127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143571" y="7953374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Domain-Specific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43571" y="8191499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Tailored to use cases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53276" y="7810499"/>
            <a:ext cx="2333566" cy="695325"/>
          </a:xfrm>
          <a:prstGeom prst="roundRect">
            <a:avLst>
              <a:gd name="adj" fmla="val 21917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096147" y="7962899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9191395" y="8070756"/>
            <a:ext cx="190495" cy="16528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620009" y="7953374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956" b="1">
                <a:solidFill>
                  <a:srgbClr val="FFFFFF"/>
                </a:solidFill>
              </a:rPr>
              <a:t>Learning Profiles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20009" y="8191499"/>
            <a:ext cx="1523961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0CAF9"/>
                </a:solidFill>
              </a:rPr>
              <a:t>Parameter optimization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A5F"/>
            </a:gs>
            <a:gs pos="100000">
              <a:srgbClr val="0D1F33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285750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04"/>
              <a:t>  </a:t>
            </a:r>
            <a:r>
              <a:rPr sz="2392" b="1">
                <a:solidFill>
                  <a:srgbClr val="FFFFFF"/>
                </a:solidFill>
              </a:rPr>
              <a:t>Conclusion: Engineering Excellence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79029"/>
            <a:ext cx="342891" cy="28969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6733" y="1047749"/>
            <a:ext cx="5333866" cy="1809749"/>
          </a:xfrm>
          <a:prstGeom prst="roundRect">
            <a:avLst>
              <a:gd name="adj" fmla="val 1263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52" y="12858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1419639"/>
            <a:ext cx="266693" cy="208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3961" y="1390650"/>
            <a:ext cx="190495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Modular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52" y="1904999"/>
            <a:ext cx="485762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0CAF9"/>
                </a:solidFill>
              </a:rPr>
              <a:t>Seven independent stages with well-defined interfaces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52" y="2276474"/>
            <a:ext cx="48576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674" b="1">
                <a:solidFill>
                  <a:srgbClr val="64B5F6"/>
                </a:solidFill>
              </a:rPr>
              <a:t>EXCELLENT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1095" y="1047749"/>
            <a:ext cx="5333866" cy="1809749"/>
          </a:xfrm>
          <a:prstGeom prst="roundRect">
            <a:avLst>
              <a:gd name="adj" fmla="val 1263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9214" y="12858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33986" y="1429785"/>
            <a:ext cx="266693" cy="1884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48323" y="1390650"/>
            <a:ext cx="20668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Real-time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214" y="1904999"/>
            <a:ext cx="485762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0CAF9"/>
                </a:solidFill>
              </a:rPr>
              <a:t>Sub-30ms latency with parallel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214" y="2276474"/>
            <a:ext cx="48576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674" b="1">
                <a:solidFill>
                  <a:srgbClr val="64B5F6"/>
                </a:solidFill>
              </a:rPr>
              <a:t>PRODUCTION-READY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3047999"/>
            <a:ext cx="5333866" cy="1809749"/>
          </a:xfrm>
          <a:prstGeom prst="roundRect">
            <a:avLst>
              <a:gd name="adj" fmla="val 1263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4852" y="32861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9624" y="3399596"/>
            <a:ext cx="266693" cy="24930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23961" y="3390899"/>
            <a:ext cx="12858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Robust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852" y="3905249"/>
            <a:ext cx="485762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0CAF9"/>
                </a:solidFill>
              </a:rPr>
              <a:t>Graceful degradation with fallback mechanisms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52" y="4267199"/>
            <a:ext cx="48576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674" b="1">
                <a:solidFill>
                  <a:srgbClr val="64B5F6"/>
                </a:solidFill>
              </a:rPr>
              <a:t>BATTLE-TESTED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1095" y="3047999"/>
            <a:ext cx="5333866" cy="1809749"/>
          </a:xfrm>
          <a:prstGeom prst="roundRect">
            <a:avLst>
              <a:gd name="adj" fmla="val 12631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29214" y="32861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33986" y="3419889"/>
            <a:ext cx="266693" cy="20872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48323" y="3390899"/>
            <a:ext cx="17430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</a:rPr>
              <a:t>Resource Efficiency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9214" y="3905249"/>
            <a:ext cx="485762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0CAF9"/>
                </a:solidFill>
              </a:rPr>
              <a:t>Lightweight implementation for edge devices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9214" y="4267199"/>
            <a:ext cx="485762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0"/>
              </a:spcAft>
            </a:pPr>
            <a:r>
              <a:rPr sz="1674" b="1">
                <a:solidFill>
                  <a:srgbClr val="64B5F6"/>
                </a:solidFill>
              </a:rPr>
              <a:t>~2 MB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5133975"/>
            <a:ext cx="10858228" cy="1438274"/>
          </a:xfrm>
          <a:prstGeom prst="roundRect">
            <a:avLst>
              <a:gd name="adj" fmla="val 15894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4852" y="5572125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64B5F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38199" y="5727455"/>
            <a:ext cx="304792" cy="26083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714457" y="5372100"/>
            <a:ext cx="9572385" cy="9620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</a:rPr>
              <a:t> This architecture is </a:t>
            </a:r>
            <a:r>
              <a:rPr sz="1435" b="1">
                <a:solidFill>
                  <a:srgbClr val="64B5F6"/>
                </a:solidFill>
              </a:rPr>
              <a:t>battle-tested</a:t>
            </a:r>
            <a:r>
              <a:rPr sz="1435" b="1">
                <a:solidFill>
                  <a:srgbClr val="FFFFFF"/>
                </a:solidFill>
              </a:rPr>
              <a:t>, </a:t>
            </a:r>
            <a:r>
              <a:rPr sz="1435" b="1">
                <a:solidFill>
                  <a:srgbClr val="64B5F6"/>
                </a:solidFill>
              </a:rPr>
              <a:t>modular</a:t>
            </a:r>
            <a:r>
              <a:rPr sz="1435" b="1">
                <a:solidFill>
                  <a:srgbClr val="FFFFFF"/>
                </a:solidFill>
              </a:rPr>
              <a:t>, and </a:t>
            </a:r>
            <a:r>
              <a:rPr sz="1435" b="1">
                <a:solidFill>
                  <a:srgbClr val="64B5F6"/>
                </a:solidFill>
              </a:rPr>
              <a:t>production-ready</a:t>
            </a:r>
            <a:r>
              <a:rPr sz="1435" b="1">
                <a:solidFill>
                  <a:srgbClr val="FFFFFF"/>
                </a:solidFill>
              </a:rPr>
              <a:t>. Every component has a clear purpose and well-defined interfaces, creating a system that delivers exceptional performance while maintaining flexibility and reliability.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